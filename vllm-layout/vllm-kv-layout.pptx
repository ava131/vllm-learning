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60" r:id="rId5"/>
    <p:sldId id="258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135" y="21780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vllm kv layout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907405" y="3007360"/>
            <a:ext cx="2945765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graphicFrame>
        <p:nvGraphicFramePr>
          <p:cNvPr id="9" name="表格 8"/>
          <p:cNvGraphicFramePr/>
          <p:nvPr/>
        </p:nvGraphicFramePr>
        <p:xfrm>
          <a:off x="1242060" y="1393825"/>
          <a:ext cx="8534400" cy="116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50"/>
                <a:gridCol w="677545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版本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layout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特点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v0.23.0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只有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NHD/HND，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没有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block_outer/layer_outer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v0.29.0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最新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包含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BL/LB + NHC/HNC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等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种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组合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830830" y="3948430"/>
            <a:ext cx="5142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这里补充说明一下为什么要有迭代更新</a:t>
            </a:r>
            <a:r>
              <a:rPr lang="en-US" altLang="zh-CN"/>
              <a:t>，</a:t>
            </a:r>
            <a:r>
              <a:rPr lang="zh-CN" altLang="en-US"/>
              <a:t>比如在不同场景下不同</a:t>
            </a:r>
            <a:r>
              <a:rPr lang="en-US" altLang="zh-CN"/>
              <a:t>layout</a:t>
            </a:r>
            <a:r>
              <a:rPr lang="zh-CN" altLang="en-US"/>
              <a:t>造成的</a:t>
            </a:r>
            <a:r>
              <a:rPr lang="en-US" altLang="zh-CN"/>
              <a:t>RDMA</a:t>
            </a:r>
            <a:r>
              <a:rPr lang="zh-CN" altLang="en-US"/>
              <a:t>可能</a:t>
            </a:r>
            <a:r>
              <a:rPr lang="zh-CN" altLang="en-US"/>
              <a:t>不同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135" y="21780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vllm kv layout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81355" y="932180"/>
            <a:ext cx="320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v0.29.0 Full attn(FA) </a:t>
            </a:r>
            <a:r>
              <a:rPr lang="en-US" altLang="zh-CN"/>
              <a:t>layout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785495" y="1602105"/>
            <a:ext cx="10191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假设模型为全部</a:t>
            </a:r>
            <a:r>
              <a:rPr lang="en-US" altLang="zh-CN"/>
              <a:t>fa，</a:t>
            </a:r>
            <a:r>
              <a:rPr lang="zh-CN" altLang="en-US"/>
              <a:t>共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，head_num=8，head_dim=128,weight_dtype=2，block_size=16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935355" y="2272665"/>
            <a:ext cx="9060180" cy="3358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那么对应</a:t>
            </a:r>
            <a:r>
              <a:rPr lang="en-US" altLang="zh-CN"/>
              <a:t>page</a:t>
            </a:r>
            <a:r>
              <a:rPr lang="zh-CN" altLang="en-US"/>
              <a:t>的大小</a:t>
            </a:r>
            <a:r>
              <a:rPr lang="en-US" altLang="zh-CN"/>
              <a:t>（per layer</a:t>
            </a:r>
            <a:r>
              <a:rPr lang="zh-CN" altLang="en-US"/>
              <a:t>每</a:t>
            </a:r>
            <a:r>
              <a:rPr lang="en-US" altLang="zh-CN"/>
              <a:t>block</a:t>
            </a:r>
            <a:r>
              <a:rPr lang="zh-CN" altLang="en-US"/>
              <a:t>的物理大小</a:t>
            </a:r>
            <a:r>
              <a:rPr lang="en-US" altLang="zh-CN"/>
              <a:t>）</a:t>
            </a:r>
            <a:endParaRPr lang="en-US" altLang="zh-CN"/>
          </a:p>
          <a:p>
            <a:r>
              <a:rPr lang="en-US" altLang="zh-CN"/>
              <a:t>page_size = block_size * head_num * head _dim * w_dtype * 2</a:t>
            </a:r>
            <a:endParaRPr lang="en-US" altLang="zh-CN"/>
          </a:p>
          <a:p>
            <a:pPr marL="457200" lvl="1" indent="457200"/>
            <a:r>
              <a:rPr lang="en-US" altLang="zh-CN"/>
              <a:t>   = 16 * 8 * 128 * 2 * 2</a:t>
            </a:r>
            <a:endParaRPr lang="en-US" altLang="zh-CN"/>
          </a:p>
          <a:p>
            <a:pPr marL="457200" lvl="1" indent="457200"/>
            <a:r>
              <a:rPr lang="en-US" altLang="zh-CN"/>
              <a:t>   = 2^16 Byte</a:t>
            </a:r>
            <a:endParaRPr lang="en-US" altLang="zh-CN"/>
          </a:p>
          <a:p>
            <a:pPr marL="457200" lvl="1" indent="457200"/>
            <a:r>
              <a:rPr lang="en-US" altLang="zh-CN"/>
              <a:t>   = 64 </a:t>
            </a:r>
            <a:r>
              <a:rPr lang="en-US" altLang="zh-CN"/>
              <a:t>kb</a:t>
            </a:r>
            <a:endParaRPr lang="en-US" altLang="zh-CN"/>
          </a:p>
          <a:p>
            <a:pPr marL="457200" lvl="1" indent="457200"/>
            <a:endParaRPr lang="en-US" altLang="zh-CN"/>
          </a:p>
          <a:p>
            <a:pPr marL="0" lvl="0" indent="0"/>
            <a:r>
              <a:rPr lang="zh-CN" altLang="en-US"/>
              <a:t>也就是</a:t>
            </a:r>
            <a:r>
              <a:rPr lang="en-US" altLang="zh-CN"/>
              <a:t>，per model（4</a:t>
            </a:r>
            <a:r>
              <a:rPr lang="zh-CN" altLang="en-US"/>
              <a:t>层</a:t>
            </a:r>
            <a:r>
              <a:rPr lang="en-US" altLang="zh-CN"/>
              <a:t>）</a:t>
            </a:r>
            <a:r>
              <a:rPr lang="zh-CN" altLang="en-US"/>
              <a:t>每</a:t>
            </a:r>
            <a:r>
              <a:rPr lang="en-US" altLang="zh-CN"/>
              <a:t>block</a:t>
            </a:r>
            <a:r>
              <a:rPr lang="zh-CN" altLang="en-US"/>
              <a:t>大小</a:t>
            </a:r>
            <a:r>
              <a:rPr lang="en-US" altLang="zh-CN"/>
              <a:t>：64kb * 4 = 256kb</a:t>
            </a:r>
            <a:endParaRPr lang="en-US" altLang="zh-CN"/>
          </a:p>
          <a:p>
            <a:pPr marL="0" lvl="0" indent="0"/>
            <a:endParaRPr lang="en-US" altLang="zh-CN"/>
          </a:p>
          <a:p>
            <a:pPr marL="0" lvl="0" indent="0"/>
            <a:r>
              <a:rPr lang="zh-CN" altLang="en-US"/>
              <a:t>假设</a:t>
            </a:r>
            <a:r>
              <a:rPr lang="en-US" altLang="zh-CN"/>
              <a:t>HBM</a:t>
            </a:r>
            <a:r>
              <a:rPr lang="zh-CN" altLang="en-US"/>
              <a:t>有</a:t>
            </a:r>
            <a:r>
              <a:rPr lang="en-US" altLang="zh-CN"/>
              <a:t>256MB</a:t>
            </a:r>
            <a:r>
              <a:rPr lang="zh-CN" altLang="en-US"/>
              <a:t>空间</a:t>
            </a:r>
            <a:r>
              <a:rPr lang="en-US" altLang="zh-CN"/>
              <a:t>，</a:t>
            </a:r>
            <a:r>
              <a:rPr lang="zh-CN" altLang="en-US"/>
              <a:t>那么总共可以创建</a:t>
            </a:r>
            <a:r>
              <a:rPr lang="en-US" altLang="zh-CN"/>
              <a:t>256Mb / 256Kb = 1024</a:t>
            </a:r>
            <a:r>
              <a:rPr lang="zh-CN" altLang="en-US"/>
              <a:t>个</a:t>
            </a:r>
            <a:r>
              <a:rPr lang="en-US" altLang="zh-CN"/>
              <a:t>Block_id</a:t>
            </a:r>
            <a:endParaRPr lang="en-US" altLang="zh-CN"/>
          </a:p>
          <a:p>
            <a:pPr marL="0" lvl="0" indent="0"/>
            <a:r>
              <a:rPr lang="zh-CN" altLang="en-US"/>
              <a:t>这里每层对应位置的</a:t>
            </a:r>
            <a:r>
              <a:rPr lang="en-US" altLang="zh-CN"/>
              <a:t>block</a:t>
            </a:r>
            <a:r>
              <a:rPr lang="zh-CN" altLang="en-US"/>
              <a:t>共享相同的</a:t>
            </a:r>
            <a:r>
              <a:rPr lang="en-US" altLang="zh-CN"/>
              <a:t>block_id，</a:t>
            </a:r>
            <a:r>
              <a:rPr lang="zh-CN" altLang="en-US"/>
              <a:t>但实际内存位置并不共享</a:t>
            </a:r>
            <a:r>
              <a:rPr lang="en-US" altLang="zh-CN"/>
              <a:t>，</a:t>
            </a:r>
            <a:r>
              <a:rPr lang="zh-CN" altLang="en-US"/>
              <a:t>也就是说不同层相同</a:t>
            </a:r>
            <a:r>
              <a:rPr lang="en-US" altLang="zh-CN"/>
              <a:t>block_id</a:t>
            </a:r>
            <a:r>
              <a:rPr lang="zh-CN" altLang="en-US"/>
              <a:t>的内存物理地址并不相同</a:t>
            </a:r>
            <a:r>
              <a:rPr lang="en-US" altLang="zh-CN"/>
              <a:t>，</a:t>
            </a:r>
            <a:r>
              <a:rPr lang="zh-CN" altLang="en-US"/>
              <a:t>这点后面会</a:t>
            </a:r>
            <a:r>
              <a:rPr lang="zh-CN" altLang="en-US"/>
              <a:t>解释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135" y="21780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vllm kv layout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81355" y="932180"/>
            <a:ext cx="320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v0.29.0 Full attn(FA) </a:t>
            </a:r>
            <a:r>
              <a:rPr lang="en-US" altLang="zh-CN"/>
              <a:t>layout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81355" y="1451610"/>
            <a:ext cx="10191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假设模型为全部</a:t>
            </a:r>
            <a:r>
              <a:rPr lang="en-US" altLang="zh-CN"/>
              <a:t>fa，</a:t>
            </a:r>
            <a:r>
              <a:rPr lang="zh-CN" altLang="en-US"/>
              <a:t>共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，head_num=8，head_dim=128,weight_dtype=2，block_size=16</a:t>
            </a:r>
            <a:endParaRPr lang="en-US" altLang="zh-CN"/>
          </a:p>
          <a:p>
            <a:r>
              <a:rPr lang="zh-CN" altLang="en-US"/>
              <a:t>已经得到</a:t>
            </a:r>
            <a:r>
              <a:rPr lang="en-US" altLang="zh-CN"/>
              <a:t>HBM</a:t>
            </a:r>
            <a:r>
              <a:rPr lang="zh-CN" altLang="en-US"/>
              <a:t>总共能有</a:t>
            </a:r>
            <a:r>
              <a:rPr lang="en-US" altLang="zh-CN"/>
              <a:t>1024</a:t>
            </a:r>
            <a:r>
              <a:rPr lang="zh-CN" altLang="en-US"/>
              <a:t>个</a:t>
            </a:r>
            <a:r>
              <a:rPr lang="en-US" altLang="zh-CN"/>
              <a:t>block_id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1273810" y="2857500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28420" y="2330450"/>
            <a:ext cx="3062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raw HBM</a:t>
            </a:r>
            <a:r>
              <a:rPr lang="zh-CN" altLang="en-US"/>
              <a:t>内存</a:t>
            </a:r>
            <a:r>
              <a:rPr lang="en-US" altLang="zh-CN"/>
              <a:t>（256</a:t>
            </a:r>
            <a:r>
              <a:rPr lang="en-US" altLang="zh-CN"/>
              <a:t>Mb）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328420" y="3797300"/>
            <a:ext cx="6309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采用</a:t>
            </a:r>
            <a:r>
              <a:rPr lang="en-US" altLang="zh-CN"/>
              <a:t>BL(Block_outer) </a:t>
            </a:r>
            <a:r>
              <a:rPr lang="zh-CN" altLang="en-US"/>
              <a:t>每</a:t>
            </a:r>
            <a:r>
              <a:rPr lang="en-US" altLang="zh-CN"/>
              <a:t>page=64kb,</a:t>
            </a:r>
            <a:r>
              <a:rPr lang="zh-CN" altLang="en-US"/>
              <a:t>每四层</a:t>
            </a:r>
            <a:r>
              <a:rPr lang="en-US" altLang="zh-CN"/>
              <a:t>256kb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/>
        </p:nvGraphicFramePr>
        <p:xfrm>
          <a:off x="1273810" y="4253230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B0L0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B0L1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B0L3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B1024L3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98880" y="4874895"/>
            <a:ext cx="100736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对于每一层</a:t>
            </a:r>
            <a:r>
              <a:rPr lang="en-US" altLang="zh-CN"/>
              <a:t>，</a:t>
            </a:r>
            <a:r>
              <a:rPr lang="zh-CN" altLang="en-US"/>
              <a:t>需要新的</a:t>
            </a:r>
            <a:r>
              <a:rPr lang="en-US" altLang="zh-CN"/>
              <a:t>block</a:t>
            </a:r>
            <a:r>
              <a:rPr lang="zh-CN" altLang="en-US"/>
              <a:t>时</a:t>
            </a:r>
            <a:r>
              <a:rPr lang="en-US" altLang="zh-CN"/>
              <a:t>，</a:t>
            </a:r>
            <a:r>
              <a:rPr lang="zh-CN" altLang="en-US"/>
              <a:t>会申请到一个</a:t>
            </a:r>
            <a:r>
              <a:rPr lang="en-US" altLang="zh-CN"/>
              <a:t>block_id，</a:t>
            </a:r>
            <a:r>
              <a:rPr lang="zh-CN" altLang="en-US"/>
              <a:t>这个</a:t>
            </a:r>
            <a:r>
              <a:rPr lang="en-US" altLang="zh-CN"/>
              <a:t>block_id</a:t>
            </a:r>
            <a:r>
              <a:rPr lang="zh-CN" altLang="en-US"/>
              <a:t>每层同位置是共享这个</a:t>
            </a:r>
            <a:r>
              <a:rPr lang="en-US" altLang="zh-CN"/>
              <a:t>id</a:t>
            </a:r>
            <a:r>
              <a:rPr lang="zh-CN" altLang="en-US"/>
              <a:t>的</a:t>
            </a:r>
            <a:endParaRPr lang="zh-CN" altLang="en-US"/>
          </a:p>
          <a:p>
            <a:r>
              <a:rPr lang="zh-CN" altLang="en-US"/>
              <a:t>但是物理地址是散列的</a:t>
            </a:r>
            <a:endParaRPr lang="en-US" altLang="zh-CN"/>
          </a:p>
          <a:p>
            <a:r>
              <a:rPr lang="en-US" altLang="zh-CN"/>
              <a:t>L0 logical block_id 0 ------&gt; physical block_id 123</a:t>
            </a:r>
            <a:endParaRPr lang="en-US" altLang="zh-CN"/>
          </a:p>
          <a:p>
            <a:r>
              <a:rPr lang="en-US" altLang="zh-CN"/>
              <a:t>     logical block_id 1 ------&gt; physical block_id 999</a:t>
            </a:r>
            <a:endParaRPr lang="en-US" altLang="zh-CN"/>
          </a:p>
          <a:p>
            <a:pPr marL="1828800" lvl="4" indent="457200"/>
            <a:r>
              <a:rPr lang="en-US" altLang="zh-CN"/>
              <a:t>......</a:t>
            </a:r>
            <a:endParaRPr lang="en-US" altLang="zh-CN"/>
          </a:p>
          <a:p>
            <a:pPr marL="0" lvl="0" indent="0"/>
            <a:r>
              <a:rPr lang="en-US" altLang="zh-CN"/>
              <a:t>     logical block_id 10 -----&gt; physical block_id 2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135" y="21780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vllm kv layout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81355" y="932180"/>
            <a:ext cx="320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v0.29.0 Full attn(FA) </a:t>
            </a:r>
            <a:r>
              <a:rPr lang="en-US" altLang="zh-CN"/>
              <a:t>layout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81355" y="1451610"/>
            <a:ext cx="10191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假设模型为全部</a:t>
            </a:r>
            <a:r>
              <a:rPr lang="en-US" altLang="zh-CN"/>
              <a:t>fa，</a:t>
            </a:r>
            <a:r>
              <a:rPr lang="zh-CN" altLang="en-US"/>
              <a:t>共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，head_num=8，head_dim=128,weight_dtype=2，block_size=16</a:t>
            </a:r>
            <a:endParaRPr lang="en-US" altLang="zh-CN"/>
          </a:p>
          <a:p>
            <a:r>
              <a:rPr lang="zh-CN" altLang="en-US"/>
              <a:t>已经得到</a:t>
            </a:r>
            <a:r>
              <a:rPr lang="en-US" altLang="zh-CN"/>
              <a:t>HBM</a:t>
            </a:r>
            <a:r>
              <a:rPr lang="zh-CN" altLang="en-US"/>
              <a:t>总共能有</a:t>
            </a:r>
            <a:r>
              <a:rPr lang="en-US" altLang="zh-CN"/>
              <a:t>1024</a:t>
            </a:r>
            <a:r>
              <a:rPr lang="zh-CN" altLang="en-US"/>
              <a:t>个</a:t>
            </a:r>
            <a:r>
              <a:rPr lang="en-US" altLang="zh-CN"/>
              <a:t>block_id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1273810" y="2857500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28420" y="2330450"/>
            <a:ext cx="3062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raw HBM</a:t>
            </a:r>
            <a:r>
              <a:rPr lang="zh-CN" altLang="en-US"/>
              <a:t>内存</a:t>
            </a:r>
            <a:r>
              <a:rPr lang="en-US" altLang="zh-CN"/>
              <a:t>（256</a:t>
            </a:r>
            <a:r>
              <a:rPr lang="en-US" altLang="zh-CN"/>
              <a:t>Mb）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328420" y="3797300"/>
            <a:ext cx="6309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采用</a:t>
            </a:r>
            <a:r>
              <a:rPr lang="en-US" altLang="zh-CN"/>
              <a:t>BL(Block_outer) </a:t>
            </a:r>
            <a:r>
              <a:rPr lang="zh-CN" altLang="en-US"/>
              <a:t>每</a:t>
            </a:r>
            <a:r>
              <a:rPr lang="en-US" altLang="zh-CN"/>
              <a:t>page=64kb,</a:t>
            </a:r>
            <a:r>
              <a:rPr lang="zh-CN" altLang="en-US"/>
              <a:t>每四层</a:t>
            </a:r>
            <a:r>
              <a:rPr lang="en-US" altLang="zh-CN"/>
              <a:t>256kb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/>
        </p:nvGraphicFramePr>
        <p:xfrm>
          <a:off x="1273810" y="4253230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B0L0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B0L1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B0L3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B1024L3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左大括号 10"/>
          <p:cNvSpPr/>
          <p:nvPr/>
        </p:nvSpPr>
        <p:spPr>
          <a:xfrm rot="5400000" flipH="1">
            <a:off x="1881505" y="4114165"/>
            <a:ext cx="227965" cy="1443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648460" y="5092700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64kb</a:t>
            </a:r>
            <a:endParaRPr lang="en-US" altLang="zh-CN"/>
          </a:p>
        </p:txBody>
      </p:sp>
      <p:sp>
        <p:nvSpPr>
          <p:cNvPr id="13" name="左大括号 12"/>
          <p:cNvSpPr/>
          <p:nvPr/>
        </p:nvSpPr>
        <p:spPr>
          <a:xfrm rot="16200000">
            <a:off x="3902710" y="2776855"/>
            <a:ext cx="381000" cy="56368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946400" y="5993765"/>
            <a:ext cx="3315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block_id=0,</a:t>
            </a:r>
            <a:r>
              <a:rPr lang="zh-CN" altLang="en-US"/>
              <a:t>共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，256kb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135" y="21780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vllm kv layout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81355" y="932180"/>
            <a:ext cx="320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v0.29.0 Full attn(FA) </a:t>
            </a:r>
            <a:r>
              <a:rPr lang="en-US" altLang="zh-CN"/>
              <a:t>layout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81355" y="1451610"/>
            <a:ext cx="10191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假设模型为全部</a:t>
            </a:r>
            <a:r>
              <a:rPr lang="en-US" altLang="zh-CN"/>
              <a:t>fa，</a:t>
            </a:r>
            <a:r>
              <a:rPr lang="zh-CN" altLang="en-US"/>
              <a:t>共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，head_num=8，head_dim=128,weight_dtype=2，block_size=16</a:t>
            </a:r>
            <a:endParaRPr lang="en-US" altLang="zh-CN"/>
          </a:p>
          <a:p>
            <a:r>
              <a:rPr lang="zh-CN" altLang="en-US"/>
              <a:t>已经得到</a:t>
            </a:r>
            <a:r>
              <a:rPr lang="en-US" altLang="zh-CN"/>
              <a:t>HBM</a:t>
            </a:r>
            <a:r>
              <a:rPr lang="zh-CN" altLang="en-US"/>
              <a:t>总共能有</a:t>
            </a:r>
            <a:r>
              <a:rPr lang="en-US" altLang="zh-CN"/>
              <a:t>1024</a:t>
            </a:r>
            <a:r>
              <a:rPr lang="zh-CN" altLang="en-US"/>
              <a:t>个</a:t>
            </a:r>
            <a:r>
              <a:rPr lang="en-US" altLang="zh-CN"/>
              <a:t>block_id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1273810" y="2857500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28420" y="2330450"/>
            <a:ext cx="3062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raw HBM</a:t>
            </a:r>
            <a:r>
              <a:rPr lang="zh-CN" altLang="en-US"/>
              <a:t>内存</a:t>
            </a:r>
            <a:r>
              <a:rPr lang="en-US" altLang="zh-CN"/>
              <a:t>（256</a:t>
            </a:r>
            <a:r>
              <a:rPr lang="en-US" altLang="zh-CN"/>
              <a:t>Mb）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328420" y="3797300"/>
            <a:ext cx="6309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采用</a:t>
            </a:r>
            <a:r>
              <a:rPr lang="en-US" altLang="zh-CN"/>
              <a:t>LB(Layer_outer) </a:t>
            </a:r>
            <a:r>
              <a:rPr lang="zh-CN" altLang="en-US"/>
              <a:t>每</a:t>
            </a:r>
            <a:r>
              <a:rPr lang="en-US" altLang="zh-CN"/>
              <a:t>page=64kb,</a:t>
            </a:r>
            <a:r>
              <a:rPr lang="zh-CN" altLang="en-US"/>
              <a:t>每四层</a:t>
            </a:r>
            <a:r>
              <a:rPr lang="en-US" altLang="zh-CN"/>
              <a:t>256kb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/>
        </p:nvGraphicFramePr>
        <p:xfrm>
          <a:off x="1273810" y="4253230"/>
          <a:ext cx="85344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4224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L0B0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L0B1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L0B1023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L3B1023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左大括号 10"/>
          <p:cNvSpPr/>
          <p:nvPr/>
        </p:nvSpPr>
        <p:spPr>
          <a:xfrm rot="5400000" flipH="1">
            <a:off x="1881505" y="4114165"/>
            <a:ext cx="227965" cy="1443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648460" y="5092700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64kb</a:t>
            </a:r>
            <a:endParaRPr lang="en-US" altLang="zh-CN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4878705" y="4795520"/>
            <a:ext cx="0" cy="599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161665" y="5521325"/>
            <a:ext cx="6137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L1,L2,L3</a:t>
            </a:r>
            <a:r>
              <a:rPr lang="zh-CN" altLang="en-US"/>
              <a:t>都包含</a:t>
            </a:r>
            <a:r>
              <a:rPr lang="en-US" altLang="zh-CN"/>
              <a:t>B0，</a:t>
            </a:r>
            <a:r>
              <a:rPr lang="zh-CN" altLang="en-US"/>
              <a:t>但是散落在不连续的</a:t>
            </a:r>
            <a:r>
              <a:rPr lang="zh-CN" altLang="en-US"/>
              <a:t>地址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135" y="21780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vllm kv layout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81355" y="932180"/>
            <a:ext cx="911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v0.29.0 </a:t>
            </a:r>
            <a:r>
              <a:rPr lang="zh-CN" altLang="en-US"/>
              <a:t>考虑到</a:t>
            </a:r>
            <a:r>
              <a:rPr lang="en-US" altLang="zh-CN"/>
              <a:t>hybrid attn,</a:t>
            </a:r>
            <a:r>
              <a:rPr lang="zh-CN" altLang="en-US"/>
              <a:t>比如</a:t>
            </a:r>
            <a:r>
              <a:rPr lang="en-US" altLang="zh-CN"/>
              <a:t>qwen3.5 </a:t>
            </a:r>
            <a:r>
              <a:rPr lang="zh-CN" altLang="en-US"/>
              <a:t>为</a:t>
            </a:r>
            <a:r>
              <a:rPr lang="en-US" altLang="zh-CN"/>
              <a:t>3gdn+1fa</a:t>
            </a:r>
            <a:r>
              <a:rPr lang="zh-CN" altLang="en-US"/>
              <a:t>形式排列</a:t>
            </a:r>
            <a:r>
              <a:rPr lang="en-US" altLang="zh-CN"/>
              <a:t>，</a:t>
            </a:r>
            <a:r>
              <a:rPr lang="zh-CN" altLang="en-US"/>
              <a:t>假设模型共</a:t>
            </a:r>
            <a:r>
              <a:rPr lang="en-US" altLang="zh-CN"/>
              <a:t>8</a:t>
            </a:r>
            <a:r>
              <a:rPr lang="zh-CN" altLang="en-US"/>
              <a:t>层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48005" y="2249170"/>
          <a:ext cx="4185285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95"/>
                <a:gridCol w="1395095"/>
                <a:gridCol w="1395095"/>
              </a:tblGrid>
              <a:tr h="3219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层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号</a:t>
                      </a: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Group_id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L0 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GDN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L1 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GDN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L2 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GDN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L3 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FA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L4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GDN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L5 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GDN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L6 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GDN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L7 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FA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842635" y="1535430"/>
            <a:ext cx="53606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也就是</a:t>
            </a:r>
            <a:r>
              <a:rPr lang="en-US" altLang="zh-CN"/>
              <a:t>	Group0 = [L3, L7]</a:t>
            </a:r>
            <a:endParaRPr lang="en-US" altLang="zh-CN"/>
          </a:p>
          <a:p>
            <a:pPr indent="457200"/>
            <a:r>
              <a:rPr lang="en-US" altLang="zh-CN"/>
              <a:t>   	Group1 = [L2, L6]</a:t>
            </a:r>
            <a:endParaRPr lang="en-US" altLang="zh-CN"/>
          </a:p>
          <a:p>
            <a:pPr marL="457200" lvl="1" indent="457200"/>
            <a:r>
              <a:rPr lang="en-US" altLang="zh-CN"/>
              <a:t>Group2 = [L1, L5]</a:t>
            </a:r>
            <a:endParaRPr lang="en-US" altLang="zh-CN"/>
          </a:p>
          <a:p>
            <a:pPr marL="457200" lvl="1" indent="457200"/>
            <a:r>
              <a:rPr lang="en-US" altLang="zh-CN"/>
              <a:t>Group3 = [L0, L4]</a:t>
            </a:r>
            <a:endParaRPr lang="en-US" altLang="zh-CN"/>
          </a:p>
          <a:p>
            <a:pPr marL="0" lvl="0" indent="0"/>
            <a:r>
              <a:rPr lang="zh-CN" altLang="en-US"/>
              <a:t>每个</a:t>
            </a:r>
            <a:r>
              <a:rPr lang="en-US" altLang="zh-CN"/>
              <a:t>group</a:t>
            </a:r>
            <a:r>
              <a:rPr lang="zh-CN" altLang="en-US"/>
              <a:t>要有相同的层数</a:t>
            </a:r>
            <a:r>
              <a:rPr lang="en-US" altLang="zh-CN"/>
              <a:t>（</a:t>
            </a:r>
            <a:r>
              <a:rPr lang="zh-CN" altLang="en-US"/>
              <a:t>需查证</a:t>
            </a:r>
            <a:r>
              <a:rPr lang="en-US" altLang="zh-CN"/>
              <a:t>）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5113020" y="3252470"/>
            <a:ext cx="681863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考虑每个</a:t>
            </a:r>
            <a:r>
              <a:rPr lang="en-US" altLang="zh-CN"/>
              <a:t>block</a:t>
            </a:r>
            <a:r>
              <a:rPr lang="zh-CN" altLang="en-US"/>
              <a:t>的大小</a:t>
            </a:r>
            <a:r>
              <a:rPr lang="en-US" altLang="zh-CN"/>
              <a:t>，</a:t>
            </a:r>
            <a:r>
              <a:rPr lang="zh-CN" altLang="en-US"/>
              <a:t>假设每</a:t>
            </a:r>
            <a:r>
              <a:rPr lang="en-US" altLang="zh-CN"/>
              <a:t>gdn state = 1020kb</a:t>
            </a:r>
            <a:endParaRPr lang="en-US" altLang="zh-CN"/>
          </a:p>
          <a:p>
            <a:r>
              <a:rPr lang="en-US" altLang="zh-CN"/>
              <a:t>fa</a:t>
            </a:r>
            <a:r>
              <a:rPr lang="zh-CN" altLang="en-US"/>
              <a:t>参数</a:t>
            </a:r>
            <a:r>
              <a:rPr lang="en-US" altLang="zh-CN"/>
              <a:t>：</a:t>
            </a:r>
            <a:r>
              <a:rPr lang="en-US" altLang="zh-CN">
                <a:sym typeface="+mn-ea"/>
              </a:rPr>
              <a:t>head_num=8，head_dim=128,weight_dtype=2</a:t>
            </a:r>
            <a:endParaRPr lang="en-US" altLang="zh-CN">
              <a:sym typeface="+mn-ea"/>
            </a:endParaRPr>
          </a:p>
          <a:p>
            <a:r>
              <a:rPr lang="zh-CN" altLang="en-US"/>
              <a:t>刚才计算</a:t>
            </a:r>
            <a:r>
              <a:rPr lang="en-US" altLang="zh-CN"/>
              <a:t>block_size=16</a:t>
            </a:r>
            <a:r>
              <a:rPr lang="zh-CN" altLang="en-US"/>
              <a:t>时，每</a:t>
            </a:r>
            <a:r>
              <a:rPr lang="en-US" altLang="zh-CN"/>
              <a:t>page</a:t>
            </a:r>
            <a:r>
              <a:rPr lang="zh-CN" altLang="en-US"/>
              <a:t>大小为</a:t>
            </a:r>
            <a:r>
              <a:rPr lang="en-US" altLang="zh-CN"/>
              <a:t>64kb</a:t>
            </a:r>
            <a:endParaRPr lang="en-US" altLang="zh-CN"/>
          </a:p>
          <a:p>
            <a:r>
              <a:rPr lang="zh-CN" altLang="en-US"/>
              <a:t>上取整</a:t>
            </a:r>
            <a:r>
              <a:rPr lang="en-US" altLang="zh-CN"/>
              <a:t>（1020/64） = 16，</a:t>
            </a:r>
            <a:r>
              <a:rPr lang="zh-CN" altLang="en-US"/>
              <a:t>也就是</a:t>
            </a:r>
            <a:r>
              <a:rPr lang="en-US" altLang="zh-CN"/>
              <a:t>block_size</a:t>
            </a:r>
            <a:r>
              <a:rPr lang="zh-CN" altLang="en-US"/>
              <a:t>设置为</a:t>
            </a:r>
            <a:r>
              <a:rPr lang="en-US" altLang="zh-CN"/>
              <a:t>16*16 = 256</a:t>
            </a:r>
            <a:r>
              <a:rPr lang="zh-CN" altLang="en-US"/>
              <a:t>时</a:t>
            </a:r>
            <a:endParaRPr lang="zh-CN" altLang="en-US"/>
          </a:p>
          <a:p>
            <a:r>
              <a:rPr lang="en-US" altLang="zh-CN"/>
              <a:t>page</a:t>
            </a:r>
            <a:r>
              <a:rPr lang="zh-CN" altLang="en-US"/>
              <a:t>大小为</a:t>
            </a:r>
            <a:r>
              <a:rPr lang="en-US" altLang="zh-CN"/>
              <a:t>1024kb</a:t>
            </a:r>
            <a:endParaRPr lang="en-US" altLang="zh-CN"/>
          </a:p>
          <a:p>
            <a:r>
              <a:rPr lang="zh-CN" altLang="en-US"/>
              <a:t>此时把</a:t>
            </a:r>
            <a:r>
              <a:rPr lang="en-US" altLang="zh-CN"/>
              <a:t>gdn state padding</a:t>
            </a:r>
            <a:r>
              <a:rPr lang="zh-CN" altLang="en-US"/>
              <a:t>到</a:t>
            </a:r>
            <a:r>
              <a:rPr lang="en-US" altLang="zh-CN"/>
              <a:t>1024</a:t>
            </a:r>
            <a:r>
              <a:rPr lang="en-US" altLang="zh-CN"/>
              <a:t>kb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每</a:t>
            </a:r>
            <a:r>
              <a:rPr lang="en-US" altLang="zh-CN"/>
              <a:t>page</a:t>
            </a:r>
            <a:r>
              <a:rPr lang="zh-CN" altLang="en-US"/>
              <a:t>大小都是</a:t>
            </a:r>
            <a:r>
              <a:rPr lang="en-US" altLang="zh-CN"/>
              <a:t>1024kb</a:t>
            </a:r>
            <a:endParaRPr lang="en-US" altLang="zh-CN"/>
          </a:p>
          <a:p>
            <a:r>
              <a:rPr lang="zh-CN" altLang="en-US"/>
              <a:t>其中</a:t>
            </a:r>
            <a:r>
              <a:rPr lang="en-US" altLang="zh-CN"/>
              <a:t>fa(block_size=256),gdn(1020kb+24kb padding)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135" y="21780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vllm kv layout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81355" y="932180"/>
            <a:ext cx="911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v0.29.0 </a:t>
            </a:r>
            <a:r>
              <a:rPr lang="zh-CN" altLang="en-US"/>
              <a:t>考虑到</a:t>
            </a:r>
            <a:r>
              <a:rPr lang="en-US" altLang="zh-CN"/>
              <a:t>hybrid attn,</a:t>
            </a:r>
            <a:r>
              <a:rPr lang="zh-CN" altLang="en-US"/>
              <a:t>比如</a:t>
            </a:r>
            <a:r>
              <a:rPr lang="en-US" altLang="zh-CN"/>
              <a:t>qwen3.5 </a:t>
            </a:r>
            <a:r>
              <a:rPr lang="zh-CN" altLang="en-US"/>
              <a:t>为</a:t>
            </a:r>
            <a:r>
              <a:rPr lang="en-US" altLang="zh-CN"/>
              <a:t>3gdn+1fa</a:t>
            </a:r>
            <a:r>
              <a:rPr lang="zh-CN" altLang="en-US"/>
              <a:t>形式排列</a:t>
            </a:r>
            <a:r>
              <a:rPr lang="en-US" altLang="zh-CN"/>
              <a:t>，</a:t>
            </a:r>
            <a:r>
              <a:rPr lang="zh-CN" altLang="en-US"/>
              <a:t>假设模型共</a:t>
            </a:r>
            <a:r>
              <a:rPr lang="en-US" altLang="zh-CN"/>
              <a:t>8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9005" y="2921635"/>
            <a:ext cx="24618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Group0 = [L3, L7]</a:t>
            </a:r>
            <a:endParaRPr lang="en-US" altLang="zh-CN"/>
          </a:p>
          <a:p>
            <a:r>
              <a:rPr lang="en-US" altLang="zh-CN"/>
              <a:t>Group1 = [L2, L6]</a:t>
            </a:r>
            <a:endParaRPr lang="en-US" altLang="zh-CN"/>
          </a:p>
          <a:p>
            <a:r>
              <a:rPr lang="en-US" altLang="zh-CN"/>
              <a:t>Group2 = [L1, L5]</a:t>
            </a:r>
            <a:endParaRPr lang="en-US" altLang="zh-CN"/>
          </a:p>
          <a:p>
            <a:r>
              <a:rPr lang="en-US" altLang="zh-CN"/>
              <a:t>Group3 = [L0, L4]</a:t>
            </a:r>
            <a:endParaRPr lang="en-US" altLang="zh-CN"/>
          </a:p>
          <a:p>
            <a:pPr marL="0" lvl="0" indent="0"/>
            <a:r>
              <a:rPr lang="zh-CN" altLang="en-US"/>
              <a:t>每</a:t>
            </a:r>
            <a:r>
              <a:rPr lang="en-US" altLang="zh-CN"/>
              <a:t>page_size=1024kb</a:t>
            </a:r>
            <a:endParaRPr lang="en-US" altLang="zh-CN"/>
          </a:p>
        </p:txBody>
      </p:sp>
      <p:sp>
        <p:nvSpPr>
          <p:cNvPr id="3" name="圆角矩形 2"/>
          <p:cNvSpPr/>
          <p:nvPr/>
        </p:nvSpPr>
        <p:spPr>
          <a:xfrm>
            <a:off x="2068195" y="2911475"/>
            <a:ext cx="353060" cy="1198880"/>
          </a:xfrm>
          <a:prstGeom prst="roundRect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751330" y="2487930"/>
            <a:ext cx="293370" cy="3644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80745" y="2135505"/>
            <a:ext cx="151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logical L0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2421255" y="2921635"/>
            <a:ext cx="353060" cy="1198880"/>
          </a:xfrm>
          <a:prstGeom prst="roundRect">
            <a:avLst/>
          </a:prstGeom>
          <a:ln w="28575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2820670" y="2523490"/>
            <a:ext cx="294005" cy="3409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820670" y="2098040"/>
            <a:ext cx="1410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logical L1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4996180" y="1570990"/>
            <a:ext cx="5867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这里的</a:t>
            </a:r>
            <a:r>
              <a:rPr lang="en-US" altLang="zh-CN"/>
              <a:t>logical layer</a:t>
            </a:r>
            <a:r>
              <a:rPr lang="zh-CN" altLang="en-US"/>
              <a:t>实际对应的是每</a:t>
            </a:r>
            <a:r>
              <a:rPr lang="en-US" altLang="zh-CN"/>
              <a:t>group</a:t>
            </a:r>
            <a:r>
              <a:rPr lang="zh-CN" altLang="en-US"/>
              <a:t>中</a:t>
            </a:r>
            <a:r>
              <a:rPr lang="en-US" altLang="zh-CN"/>
              <a:t>layer</a:t>
            </a:r>
            <a:r>
              <a:rPr lang="zh-CN" altLang="en-US"/>
              <a:t>的</a:t>
            </a:r>
            <a:r>
              <a:rPr lang="zh-CN" altLang="en-US"/>
              <a:t>索引</a:t>
            </a:r>
            <a:endParaRPr lang="zh-CN" altLang="en-US"/>
          </a:p>
        </p:txBody>
      </p:sp>
      <p:graphicFrame>
        <p:nvGraphicFramePr>
          <p:cNvPr id="16" name="表格 15"/>
          <p:cNvGraphicFramePr/>
          <p:nvPr/>
        </p:nvGraphicFramePr>
        <p:xfrm>
          <a:off x="3486150" y="2766060"/>
          <a:ext cx="85344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587240" y="2258060"/>
            <a:ext cx="737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raw HBM</a:t>
            </a:r>
            <a:r>
              <a:rPr lang="zh-CN" altLang="en-US"/>
              <a:t>内存</a:t>
            </a:r>
            <a:r>
              <a:rPr lang="en-US" altLang="zh-CN"/>
              <a:t>，</a:t>
            </a:r>
            <a:r>
              <a:rPr lang="zh-CN" altLang="en-US"/>
              <a:t>假设针对</a:t>
            </a:r>
            <a:r>
              <a:rPr lang="en-US" altLang="zh-CN"/>
              <a:t>2 logical layer，</a:t>
            </a:r>
            <a:r>
              <a:rPr lang="zh-CN" altLang="en-US"/>
              <a:t>共能划分出</a:t>
            </a:r>
            <a:r>
              <a:rPr lang="en-US" altLang="zh-CN"/>
              <a:t>1024block_id</a:t>
            </a:r>
            <a:endParaRPr lang="en-US" altLang="zh-CN"/>
          </a:p>
        </p:txBody>
      </p:sp>
      <p:graphicFrame>
        <p:nvGraphicFramePr>
          <p:cNvPr id="19" name="表格 18"/>
          <p:cNvGraphicFramePr/>
          <p:nvPr/>
        </p:nvGraphicFramePr>
        <p:xfrm>
          <a:off x="3486150" y="4120515"/>
          <a:ext cx="85344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L0B0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L0B1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L0B1023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L1B0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L1B1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L1B1023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3724275" y="3582035"/>
            <a:ext cx="4221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那么对于</a:t>
            </a:r>
            <a:r>
              <a:rPr lang="en-US" altLang="zh-CN"/>
              <a:t>LB(Layer_outer)</a:t>
            </a:r>
            <a:endParaRPr lang="en-US" altLang="zh-CN"/>
          </a:p>
        </p:txBody>
      </p:sp>
      <p:sp>
        <p:nvSpPr>
          <p:cNvPr id="21" name="左大括号 20"/>
          <p:cNvSpPr/>
          <p:nvPr/>
        </p:nvSpPr>
        <p:spPr>
          <a:xfrm rot="16200000">
            <a:off x="5427980" y="2499995"/>
            <a:ext cx="411480" cy="42932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625090" y="5066030"/>
            <a:ext cx="83591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对于所有</a:t>
            </a:r>
            <a:r>
              <a:rPr lang="en-US" altLang="zh-CN"/>
              <a:t>logical layer</a:t>
            </a:r>
            <a:r>
              <a:rPr lang="zh-CN" altLang="en-US"/>
              <a:t>为</a:t>
            </a:r>
            <a:r>
              <a:rPr lang="en-US" altLang="zh-CN"/>
              <a:t>0</a:t>
            </a:r>
            <a:r>
              <a:rPr lang="zh-CN" altLang="en-US"/>
              <a:t>的</a:t>
            </a:r>
            <a:r>
              <a:rPr lang="en-US" altLang="zh-CN"/>
              <a:t>layer,</a:t>
            </a:r>
            <a:r>
              <a:rPr lang="zh-CN" altLang="en-US"/>
              <a:t>也就是</a:t>
            </a:r>
            <a:r>
              <a:rPr lang="en-US" altLang="zh-CN"/>
              <a:t>L0,1,2,3,</a:t>
            </a:r>
            <a:r>
              <a:rPr lang="zh-CN" altLang="en-US"/>
              <a:t>共同向</a:t>
            </a:r>
            <a:r>
              <a:rPr lang="en-US" altLang="zh-CN"/>
              <a:t>L0B[0-1023]</a:t>
            </a:r>
            <a:r>
              <a:rPr lang="zh-CN" altLang="en-US"/>
              <a:t>的地址申请</a:t>
            </a:r>
            <a:r>
              <a:rPr lang="en-US" altLang="zh-CN"/>
              <a:t>block_id;</a:t>
            </a:r>
            <a:endParaRPr lang="en-US" altLang="zh-CN"/>
          </a:p>
          <a:p>
            <a:r>
              <a:rPr lang="zh-CN" altLang="en-US"/>
              <a:t>此</a:t>
            </a:r>
            <a:r>
              <a:rPr lang="en-US" altLang="zh-CN"/>
              <a:t>block_id</a:t>
            </a:r>
            <a:r>
              <a:rPr lang="zh-CN" altLang="en-US"/>
              <a:t>对于同一</a:t>
            </a:r>
            <a:r>
              <a:rPr lang="en-US" altLang="zh-CN"/>
              <a:t>group</a:t>
            </a:r>
            <a:r>
              <a:rPr lang="zh-CN" altLang="en-US"/>
              <a:t>的</a:t>
            </a:r>
            <a:r>
              <a:rPr lang="en-US" altLang="zh-CN"/>
              <a:t>layer</a:t>
            </a:r>
            <a:r>
              <a:rPr lang="zh-CN" altLang="en-US"/>
              <a:t>的不同的</a:t>
            </a:r>
            <a:r>
              <a:rPr lang="en-US" altLang="zh-CN"/>
              <a:t>logical layer</a:t>
            </a:r>
            <a:r>
              <a:rPr lang="zh-CN" altLang="en-US"/>
              <a:t>是共享的</a:t>
            </a:r>
            <a:r>
              <a:rPr lang="en-US" altLang="zh-CN"/>
              <a:t>；</a:t>
            </a:r>
            <a:endParaRPr lang="en-US" altLang="zh-CN"/>
          </a:p>
          <a:p>
            <a:r>
              <a:rPr lang="zh-CN" altLang="en-US"/>
              <a:t>比如</a:t>
            </a:r>
            <a:r>
              <a:rPr lang="en-US" altLang="zh-CN"/>
              <a:t>，group0</a:t>
            </a:r>
            <a:r>
              <a:rPr lang="zh-CN" altLang="en-US"/>
              <a:t>申请到了</a:t>
            </a:r>
            <a:r>
              <a:rPr lang="en-US" altLang="zh-CN"/>
              <a:t>block_id=123</a:t>
            </a:r>
            <a:r>
              <a:rPr lang="zh-CN" altLang="en-US"/>
              <a:t>的块</a:t>
            </a:r>
            <a:r>
              <a:rPr lang="en-US" altLang="zh-CN"/>
              <a:t>，</a:t>
            </a:r>
            <a:r>
              <a:rPr lang="zh-CN" altLang="en-US"/>
              <a:t>那么</a:t>
            </a:r>
            <a:r>
              <a:rPr lang="en-US" altLang="zh-CN"/>
              <a:t>L3</a:t>
            </a:r>
            <a:r>
              <a:rPr lang="zh-CN" altLang="en-US"/>
              <a:t>的某一个</a:t>
            </a:r>
            <a:r>
              <a:rPr lang="en-US" altLang="zh-CN"/>
              <a:t>logical block</a:t>
            </a:r>
            <a:r>
              <a:rPr lang="zh-CN" altLang="en-US"/>
              <a:t>对应的物理地址就是</a:t>
            </a:r>
            <a:r>
              <a:rPr lang="en-US" altLang="zh-CN"/>
              <a:t>L0B123,L7</a:t>
            </a:r>
            <a:r>
              <a:rPr lang="zh-CN" altLang="en-US"/>
              <a:t>的就是</a:t>
            </a:r>
            <a:r>
              <a:rPr lang="en-US" altLang="zh-CN"/>
              <a:t>L1B123;</a:t>
            </a:r>
            <a:endParaRPr lang="en-US" altLang="zh-CN"/>
          </a:p>
          <a:p>
            <a:r>
              <a:rPr lang="zh-CN" altLang="en-US"/>
              <a:t>此时</a:t>
            </a:r>
            <a:r>
              <a:rPr lang="en-US" altLang="zh-CN"/>
              <a:t>，</a:t>
            </a:r>
            <a:r>
              <a:rPr lang="zh-CN" altLang="en-US"/>
              <a:t>如果</a:t>
            </a:r>
            <a:r>
              <a:rPr lang="en-US" altLang="zh-CN"/>
              <a:t>Block_id123</a:t>
            </a:r>
            <a:r>
              <a:rPr lang="zh-CN" altLang="en-US"/>
              <a:t>没有被归还</a:t>
            </a:r>
            <a:r>
              <a:rPr lang="en-US" altLang="zh-CN"/>
              <a:t>，</a:t>
            </a:r>
            <a:r>
              <a:rPr lang="zh-CN" altLang="en-US"/>
              <a:t>那么其他</a:t>
            </a:r>
            <a:r>
              <a:rPr lang="en-US" altLang="zh-CN"/>
              <a:t>group</a:t>
            </a:r>
            <a:r>
              <a:rPr lang="zh-CN" altLang="en-US"/>
              <a:t>是不会申请到这个</a:t>
            </a:r>
            <a:r>
              <a:rPr lang="en-US" altLang="zh-CN"/>
              <a:t>id</a:t>
            </a:r>
            <a:r>
              <a:rPr lang="zh-CN" altLang="en-US"/>
              <a:t>的</a:t>
            </a:r>
            <a:r>
              <a:rPr lang="en-US" altLang="zh-CN"/>
              <a:t>；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TABLE_ENDDRAG_ORIGIN_RECT" val="312*267"/>
  <p:tag name="TABLE_ENDDRAG_RECT" val="43*177*312*267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2500</Words>
  <Application>WPS 表格</Application>
  <PresentationFormat>宽屏</PresentationFormat>
  <Paragraphs>233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方正雅意黑 GB18030L2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დ棒棒的洋</cp:lastModifiedBy>
  <cp:revision>169</cp:revision>
  <dcterms:created xsi:type="dcterms:W3CDTF">2026-09-17T07:56:13Z</dcterms:created>
  <dcterms:modified xsi:type="dcterms:W3CDTF">2026-09-17T07:56:13Z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829673DC84CDB03CA08CAB6ADFBBDA1F_41</vt:lpwstr>
  </property>
</Properties>
</file>