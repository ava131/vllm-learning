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hybrid model: separate KV cache groups and specs. FullAttentionSpec stores token KV blocks; MambaSpec stores conv and SSM state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Ascend hybrid implementation: full attention and Mamba groups remain logically distinct. Ascend aligns attention page size to Mamba page size and creates backend-specific views from raw cache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混合注意力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Full Attention 和 GDN/Mamba 使用不同 cache group；共享调度框架，但 page 内容不同。</a:t>
            </a:r>
            <a:endParaRPr sz="1500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381125"/>
            <a:ext cx="1390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逻辑层：同一个 request 有两张 block table</a:t>
            </a:r>
            <a:endParaRPr sz="165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809750"/>
            <a:ext cx="6667500" cy="2286000"/>
          </a:xfrm>
          <a:prstGeom prst="roundRect">
            <a:avLst>
              <a:gd name="adj" fmla="val 3333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04875" y="20002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8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Full Attention group</a:t>
            </a:r>
            <a:endParaRPr sz="180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38125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table: [7, 12, 3]</a:t>
            </a:r>
            <a:endParaRPr sz="15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0125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 → physical 7</a:t>
            </a:r>
            <a:endParaRPr sz="112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952750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19425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 → physical 12</a:t>
            </a:r>
            <a:endParaRPr sz="112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05375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972050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2 → physical 3</a:t>
            </a:r>
            <a:endParaRPr sz="112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05750" y="1809750"/>
            <a:ext cx="6667500" cy="2286000"/>
          </a:xfrm>
          <a:prstGeom prst="roundRect">
            <a:avLst>
              <a:gd name="adj" fmla="val 3333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43875" y="20002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8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GDN / Mamba group</a:t>
            </a:r>
            <a:endParaRPr sz="180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43875" y="238125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table: [5, 9, 4]</a:t>
            </a:r>
            <a:endParaRPr sz="150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239125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05800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State 0 → physical 5</a:t>
            </a:r>
            <a:endParaRPr sz="1125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191750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258425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State 1 → physical 9</a:t>
            </a:r>
            <a:endParaRPr sz="1125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144375" y="2952750"/>
            <a:ext cx="1762125" cy="666750"/>
          </a:xfrm>
          <a:prstGeom prst="roundRect">
            <a:avLst>
              <a:gd name="adj" fmla="val 11429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211050" y="3124200"/>
            <a:ext cx="16287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State 2 → physical 4</a:t>
            </a:r>
            <a:endParaRPr sz="1125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4524375"/>
            <a:ext cx="1390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物理层：两类 page 的有效内容不同</a:t>
            </a:r>
            <a:endParaRPr sz="165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" y="4953000"/>
            <a:ext cx="6667500" cy="2428875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04875" y="51435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Full Attention page</a:t>
            </a:r>
            <a:endParaRPr sz="17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95375" y="5762625"/>
            <a:ext cx="5810250" cy="571500"/>
          </a:xfrm>
          <a:prstGeom prst="roundRect">
            <a:avLst>
              <a:gd name="adj" fmla="val 13333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90625" y="5924550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 cache · block_size × KV heads × head_dim</a:t>
            </a:r>
            <a:endParaRPr sz="13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095375" y="6477000"/>
            <a:ext cx="5810250" cy="571500"/>
          </a:xfrm>
          <a:prstGeom prst="roundRect">
            <a:avLst>
              <a:gd name="adj" fmla="val 13333"/>
            </a:avLst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90625" y="6638925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 cache · block_size × KV heads × head_dim</a:t>
            </a:r>
            <a:endParaRPr sz="13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905750" y="4953000"/>
            <a:ext cx="6667500" cy="2428875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43875" y="51435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GDN page</a:t>
            </a:r>
            <a:endParaRPr sz="17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334375" y="5762625"/>
            <a:ext cx="5810250" cy="571500"/>
          </a:xfrm>
          <a:prstGeom prst="roundRect">
            <a:avLst>
              <a:gd name="adj" fmla="val 13333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429625" y="5924550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conv state</a:t>
            </a:r>
            <a:endParaRPr sz="13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334375" y="6477000"/>
            <a:ext cx="5810250" cy="571500"/>
          </a:xfrm>
          <a:prstGeom prst="roundRect">
            <a:avLst>
              <a:gd name="adj" fmla="val 13333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29625" y="6638925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ssm state</a:t>
            </a:r>
            <a:endParaRPr sz="13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7762875"/>
            <a:ext cx="1390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原生：group 分开，full 保存 token K/V，GDN 保存 state checkpoint。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Ascend 混合注意力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Ascend 为 hybrid cache 使用统一的 block/page stride；不同 layer 通过不同 view 解释 raw bytes。</a:t>
            </a:r>
            <a:endParaRPr sz="1500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38112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逻辑层仍然分 group</a:t>
            </a:r>
            <a:endParaRPr sz="165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809750"/>
            <a:ext cx="6667500" cy="1714500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04875" y="200025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Full Attention group</a:t>
            </a:r>
            <a:endParaRPr sz="17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381250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table: [7, 12]</a:t>
            </a:r>
            <a:endParaRPr sz="15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4875" y="2857500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→ physical block → K/V view</a:t>
            </a:r>
            <a:endParaRPr sz="13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905750" y="1809750"/>
            <a:ext cx="6667500" cy="1714500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43875" y="200025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GDN group</a:t>
            </a:r>
            <a:endParaRPr sz="17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43875" y="2381250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table: [5, 9]</a:t>
            </a:r>
            <a:endParaRPr sz="150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43875" y="2857500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→ physical block → conv/ssm view</a:t>
            </a:r>
            <a:endParaRPr sz="1350" b="0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3952875"/>
            <a:ext cx="1390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物理层：统一 page stride，但有效 view 不同</a:t>
            </a:r>
            <a:endParaRPr sz="165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4381500"/>
            <a:ext cx="13906500" cy="2905125"/>
          </a:xfrm>
          <a:prstGeom prst="roundRect">
            <a:avLst>
              <a:gd name="adj" fmla="val 2623"/>
            </a:avLst>
          </a:prstGeom>
          <a:solidFill>
            <a:srgbClr val="F7FAFD"/>
          </a:solidFill>
          <a:ln w="19050">
            <a:solidFill>
              <a:srgbClr val="183B5B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04875" y="457200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7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一个统一大小的 physical page（示意）</a:t>
            </a:r>
            <a:endParaRPr sz="17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" y="509587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Full Attention view</a:t>
            </a:r>
            <a:endParaRPr sz="15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906000" y="509587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GDN view</a:t>
            </a:r>
            <a:endParaRPr sz="150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43000" y="5572125"/>
            <a:ext cx="7048500" cy="666750"/>
          </a:xfrm>
          <a:prstGeom prst="roundRect">
            <a:avLst>
              <a:gd name="adj" fmla="val 11429"/>
            </a:avLst>
          </a:prstGeom>
          <a:solidFill>
            <a:srgbClr val="EEF1F4"/>
          </a:solidFill>
          <a:ln w="19050">
            <a:solidFill>
              <a:srgbClr val="8B98A6"/>
            </a:solidFill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43000" y="5572125"/>
            <a:ext cx="876300" cy="666750"/>
          </a:xfrm>
          <a:prstGeom prst="roundRect">
            <a:avLst>
              <a:gd name="adj" fmla="val 11429"/>
            </a:avLst>
          </a:prstGeom>
          <a:solidFill>
            <a:srgbClr val="8B98A6"/>
          </a:solidFill>
          <a:ln w="9525">
            <a:solidFill>
              <a:srgbClr val="8B98A6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90625" y="57816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FFFFFF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padding</a:t>
            </a:r>
            <a:endParaRPr sz="1050" b="1">
              <a:solidFill>
                <a:srgbClr val="FFFFFF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19300" y="5572125"/>
            <a:ext cx="3086100" cy="666750"/>
          </a:xfrm>
          <a:prstGeom prst="rect">
            <a:avLst/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5791200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05400" y="5572125"/>
            <a:ext cx="3086100" cy="666750"/>
          </a:xfrm>
          <a:prstGeom prst="rect">
            <a:avLst/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05400" y="5791200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</a:t>
            </a:r>
            <a:endParaRPr sz="16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63000" y="5572125"/>
            <a:ext cx="4857750" cy="666750"/>
          </a:xfrm>
          <a:prstGeom prst="roundRect">
            <a:avLst>
              <a:gd name="adj" fmla="val 11429"/>
            </a:avLst>
          </a:prstGeom>
          <a:solidFill>
            <a:srgbClr val="E7F5EA"/>
          </a:solidFill>
          <a:ln w="19050">
            <a:solidFill>
              <a:srgbClr val="4C9960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05875" y="5791200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0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conv state + ssm state</a:t>
            </a:r>
            <a:endParaRPr sz="150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6667500"/>
            <a:ext cx="1247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同一个 block id 的 page stride 相同；full 的 K/V 有效区域较小，其余是 padding。</a:t>
            </a:r>
            <a:endParaRPr sz="1350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7762875"/>
            <a:ext cx="1390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Ascend：固定 backend tensor shape，通常是 [2, num_blocks, block_size, num_kv_heads, head_size]。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WPS 演示</Application>
  <PresentationFormat>Converted Presentation</PresentationFormat>
  <Paragraphs>80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დ棒棒的洋</cp:lastModifiedBy>
  <cp:revision>1</cp:revision>
  <dcterms:created xsi:type="dcterms:W3CDTF">2026-09-09T03:35:29Z</dcterms:created>
  <dcterms:modified xsi:type="dcterms:W3CDTF">2026-09-09T03:35:29Z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C01776C97CC53F7201D4A06A76D123A2_43</vt:lpwstr>
  </property>
  <property fmtid="{D5CDD505-2E9C-101B-9397-08002B2CF9AE}" pid="3" name="KSOProductBuildVer">
    <vt:lpwstr>2052-12.1.26055.26055</vt:lpwstr>
  </property>
</Properties>
</file>