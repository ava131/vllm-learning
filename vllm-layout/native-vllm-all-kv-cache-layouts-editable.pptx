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Native vLLM KV cache layout diagram. Axis order follows vllm/v1/kv_cache_layout.py. Token ranges are illustrative: block_size=16.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Native vLLM KV cache layout diagram. Axis order follows vllm/v1/kv_cache_layout.py. Token ranges are illustrative: block_size=16.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Native vLLM KV cache layout diagram. Axis order follows vllm/v1/kv_cache_layout.py. Token ranges are illustrative: block_size=16.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Native vLLM KV cache layout diagram. Axis order follows vllm/v1/kv_cache_layout.py. Token ranges are illustrative: block_size=16.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Native vLLM KV cache layout diagram. Axis order follows vllm/v1/kv_cache_layout.py. Token ranges are illustrative: block_size=16.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Native vLLM KV cache layout diagram. Axis order follows vllm/v1/kv_cache_layout.py. Token ranges are illustrative: block_size=16.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3" name="矩形 62"/>
          <p:cNvSpPr>
            <a:spLocks noGrp="1"/>
          </p:cNvSpPr>
          <p:nvPr/>
        </p:nvSpPr>
        <p:spPr>
          <a:xfrm>
            <a:off x="666750" y="333375"/>
            <a:ext cx="13906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原生 vLLM Full Attention：LBHNC</a:t>
            </a:r>
            <a:endParaRPr sz="2550" b="1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857250"/>
            <a:ext cx="1390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6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LBHNC = [Layer, Block, Head, Token, Content]</a:t>
            </a:r>
            <a:endParaRPr sz="165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238250"/>
            <a:ext cx="1390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这张图只改变物理嵌套顺序，token 的逻辑连续性保持不变：Block 0 = Token 0–15，Block 1 = Token 16–31。</a:t>
            </a:r>
            <a:endParaRPr sz="1425" b="0">
              <a:solidFill>
                <a:srgbClr val="425466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66750" y="1952625"/>
            <a:ext cx="13906500" cy="5334000"/>
          </a:xfrm>
          <a:prstGeom prst="roundRect">
            <a:avLst>
              <a:gd name="adj" fmla="val 1429"/>
            </a:avLst>
          </a:prstGeom>
          <a:solidFill>
            <a:srgbClr val="FAFCFE"/>
          </a:solidFill>
          <a:ln w="28575">
            <a:solidFill>
              <a:srgbClr val="183B5B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2105025"/>
            <a:ext cx="135636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物理嵌套顺序：Layer → Block → Head → Token</a:t>
            </a:r>
            <a:endParaRPr sz="142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57250" y="2571750"/>
            <a:ext cx="6667500" cy="4476750"/>
          </a:xfrm>
          <a:prstGeom prst="roundRect">
            <a:avLst>
              <a:gd name="adj" fmla="val 1702"/>
            </a:avLst>
          </a:prstGeom>
          <a:solidFill>
            <a:srgbClr val="F3F7FB"/>
          </a:solidFill>
          <a:ln w="19050">
            <a:solidFill>
              <a:srgbClr val="183B5B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686050"/>
            <a:ext cx="647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Layer 0</a:t>
            </a:r>
            <a:endParaRPr sz="157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90600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38225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0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66800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0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23950" y="38481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62050" y="38671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123950" y="40576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40767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123950" y="42672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62050" y="42862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2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123950" y="44767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62050" y="44958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3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85850" y="4714875"/>
            <a:ext cx="29432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...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257675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305300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1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333875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371975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1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4391025" y="38481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429125" y="38671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8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391025" y="40576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429125" y="40767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9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4391025" y="42672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429125" y="42862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10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391025" y="44767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429125" y="44958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11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352925" y="4714875"/>
            <a:ext cx="29432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...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715250" y="2571750"/>
            <a:ext cx="6667500" cy="4476750"/>
          </a:xfrm>
          <a:prstGeom prst="roundRect">
            <a:avLst>
              <a:gd name="adj" fmla="val 1702"/>
            </a:avLst>
          </a:prstGeom>
          <a:solidFill>
            <a:srgbClr val="F3F7FB"/>
          </a:solidFill>
          <a:ln w="19050">
            <a:solidFill>
              <a:srgbClr val="183B5B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10500" y="2686050"/>
            <a:ext cx="647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Layer 1</a:t>
            </a:r>
            <a:endParaRPr sz="157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7848600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896225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0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7924800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962900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0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7981950" y="38481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020050" y="38671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7981950" y="40576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020050" y="40767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7981950" y="42672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020050" y="42862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2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7981950" y="44767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020050" y="44958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3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943850" y="4714875"/>
            <a:ext cx="29432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...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11115675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1163300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1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11191875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1229975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1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11249025" y="38481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1287125" y="38671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8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11249025" y="40576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11287125" y="40767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9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11249025" y="42672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11287125" y="42862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10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11249025" y="44767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11287125" y="44958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11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1210925" y="4714875"/>
            <a:ext cx="29432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...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666750" y="7667625"/>
            <a:ext cx="1390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重点：Layer → Block → Head → Token。越靠外的轴，越早决定物理内存中的大块连续区域。</a:t>
            </a:r>
            <a:endParaRPr sz="1425" b="0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" name="矩形 42"/>
          <p:cNvSpPr>
            <a:spLocks noGrp="1"/>
          </p:cNvSpPr>
          <p:nvPr/>
        </p:nvSpPr>
        <p:spPr>
          <a:xfrm>
            <a:off x="666750" y="333375"/>
            <a:ext cx="13906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原生 vLLM Full Attention：LBNHC</a:t>
            </a:r>
            <a:endParaRPr sz="2550" b="1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857250"/>
            <a:ext cx="1390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6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LBNHC = [Layer, Block, Token, Head, Content]</a:t>
            </a:r>
            <a:endParaRPr sz="165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238250"/>
            <a:ext cx="1390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这张图只改变物理嵌套顺序，token 的逻辑连续性保持不变：Block 0 = Token 0–15，Block 1 = Token 16–31。</a:t>
            </a:r>
            <a:endParaRPr sz="1425" b="0">
              <a:solidFill>
                <a:srgbClr val="425466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66750" y="1952625"/>
            <a:ext cx="13906500" cy="5334000"/>
          </a:xfrm>
          <a:prstGeom prst="roundRect">
            <a:avLst>
              <a:gd name="adj" fmla="val 1429"/>
            </a:avLst>
          </a:prstGeom>
          <a:solidFill>
            <a:srgbClr val="FAFCFE"/>
          </a:solidFill>
          <a:ln w="28575">
            <a:solidFill>
              <a:srgbClr val="183B5B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2105025"/>
            <a:ext cx="135636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物理嵌套顺序：Layer → Block → Token → Head</a:t>
            </a:r>
            <a:endParaRPr sz="142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57250" y="2571750"/>
            <a:ext cx="6667500" cy="4476750"/>
          </a:xfrm>
          <a:prstGeom prst="roundRect">
            <a:avLst>
              <a:gd name="adj" fmla="val 1702"/>
            </a:avLst>
          </a:prstGeom>
          <a:solidFill>
            <a:srgbClr val="F3F7FB"/>
          </a:solidFill>
          <a:ln w="19050">
            <a:solidFill>
              <a:srgbClr val="183B5B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686050"/>
            <a:ext cx="647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Layer 0</a:t>
            </a:r>
            <a:endParaRPr sz="157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90600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38225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0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66800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23950" y="3848100"/>
            <a:ext cx="2867025" cy="238125"/>
          </a:xfrm>
          <a:prstGeom prst="roundRect">
            <a:avLst>
              <a:gd name="adj" fmla="val 32000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62050" y="3867150"/>
            <a:ext cx="2790825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0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123950" y="4133850"/>
            <a:ext cx="2867025" cy="238125"/>
          </a:xfrm>
          <a:prstGeom prst="roundRect">
            <a:avLst>
              <a:gd name="adj" fmla="val 32000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4152900"/>
            <a:ext cx="2790825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1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257675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305300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1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333875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371975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16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391025" y="3848100"/>
            <a:ext cx="2867025" cy="238125"/>
          </a:xfrm>
          <a:prstGeom prst="roundRect">
            <a:avLst>
              <a:gd name="adj" fmla="val 32000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429125" y="3867150"/>
            <a:ext cx="2790825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0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391025" y="4133850"/>
            <a:ext cx="2867025" cy="238125"/>
          </a:xfrm>
          <a:prstGeom prst="roundRect">
            <a:avLst>
              <a:gd name="adj" fmla="val 32000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429125" y="4152900"/>
            <a:ext cx="2790825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1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715250" y="2571750"/>
            <a:ext cx="6667500" cy="4476750"/>
          </a:xfrm>
          <a:prstGeom prst="roundRect">
            <a:avLst>
              <a:gd name="adj" fmla="val 1702"/>
            </a:avLst>
          </a:prstGeom>
          <a:solidFill>
            <a:srgbClr val="F3F7FB"/>
          </a:solidFill>
          <a:ln w="19050">
            <a:solidFill>
              <a:srgbClr val="183B5B"/>
            </a:solidFill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810500" y="2686050"/>
            <a:ext cx="647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Layer 1</a:t>
            </a:r>
            <a:endParaRPr sz="157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7848600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896225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0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924800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962900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981950" y="3848100"/>
            <a:ext cx="2867025" cy="238125"/>
          </a:xfrm>
          <a:prstGeom prst="roundRect">
            <a:avLst>
              <a:gd name="adj" fmla="val 32000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020050" y="3867150"/>
            <a:ext cx="2790825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0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981950" y="4133850"/>
            <a:ext cx="2867025" cy="238125"/>
          </a:xfrm>
          <a:prstGeom prst="roundRect">
            <a:avLst>
              <a:gd name="adj" fmla="val 32000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020050" y="4152900"/>
            <a:ext cx="2790825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1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11115675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1163300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1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11191875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1229975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16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11249025" y="3848100"/>
            <a:ext cx="2867025" cy="238125"/>
          </a:xfrm>
          <a:prstGeom prst="roundRect">
            <a:avLst>
              <a:gd name="adj" fmla="val 32000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1287125" y="3867150"/>
            <a:ext cx="2790825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0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11249025" y="4133850"/>
            <a:ext cx="2867025" cy="238125"/>
          </a:xfrm>
          <a:prstGeom prst="roundRect">
            <a:avLst>
              <a:gd name="adj" fmla="val 32000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1287125" y="4152900"/>
            <a:ext cx="2790825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1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66750" y="7667625"/>
            <a:ext cx="1390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重点：Layer → Block → Token → Head。越靠外的轴，越早决定物理内存中的大块连续区域。</a:t>
            </a:r>
            <a:endParaRPr sz="1425" b="0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3" name="矩形 62"/>
          <p:cNvSpPr>
            <a:spLocks noGrp="1"/>
          </p:cNvSpPr>
          <p:nvPr/>
        </p:nvSpPr>
        <p:spPr>
          <a:xfrm>
            <a:off x="666750" y="333375"/>
            <a:ext cx="13906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原生 vLLM Full Attention：LHBNC</a:t>
            </a:r>
            <a:endParaRPr sz="2550" b="1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857250"/>
            <a:ext cx="1390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6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LHBNC = [Layer, Head, Block, Token, Content]</a:t>
            </a:r>
            <a:endParaRPr sz="165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238250"/>
            <a:ext cx="1390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这张图只改变物理嵌套顺序，token 的逻辑连续性保持不变：Block 0 = Token 0–15，Block 1 = Token 16–31。</a:t>
            </a:r>
            <a:endParaRPr sz="1425" b="0">
              <a:solidFill>
                <a:srgbClr val="425466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66750" y="1952625"/>
            <a:ext cx="13906500" cy="5334000"/>
          </a:xfrm>
          <a:prstGeom prst="roundRect">
            <a:avLst>
              <a:gd name="adj" fmla="val 1429"/>
            </a:avLst>
          </a:prstGeom>
          <a:solidFill>
            <a:srgbClr val="FAFCFE"/>
          </a:solidFill>
          <a:ln w="28575">
            <a:solidFill>
              <a:srgbClr val="183B5B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2105025"/>
            <a:ext cx="135636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物理嵌套顺序：Layer → Head → Block → Token</a:t>
            </a:r>
            <a:endParaRPr sz="142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57250" y="2571750"/>
            <a:ext cx="6667500" cy="4476750"/>
          </a:xfrm>
          <a:prstGeom prst="roundRect">
            <a:avLst>
              <a:gd name="adj" fmla="val 1702"/>
            </a:avLst>
          </a:prstGeom>
          <a:solidFill>
            <a:srgbClr val="F3F7FB"/>
          </a:solidFill>
          <a:ln w="19050">
            <a:solidFill>
              <a:srgbClr val="183B5B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686050"/>
            <a:ext cx="647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Layer 0</a:t>
            </a:r>
            <a:endParaRPr sz="157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90600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38225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0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66800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0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23950" y="38481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62050" y="38671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123950" y="40576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40767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123950" y="42672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62050" y="42862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2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123950" y="44767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62050" y="44958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3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85850" y="4714875"/>
            <a:ext cx="29432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...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257675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305300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1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333875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371975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1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4391025" y="38481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429125" y="38671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8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391025" y="40576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429125" y="40767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9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4391025" y="42672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429125" y="42862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10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391025" y="44767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429125" y="44958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11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352925" y="4714875"/>
            <a:ext cx="29432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...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715250" y="2571750"/>
            <a:ext cx="6667500" cy="4476750"/>
          </a:xfrm>
          <a:prstGeom prst="roundRect">
            <a:avLst>
              <a:gd name="adj" fmla="val 1702"/>
            </a:avLst>
          </a:prstGeom>
          <a:solidFill>
            <a:srgbClr val="F3F7FB"/>
          </a:solidFill>
          <a:ln w="19050">
            <a:solidFill>
              <a:srgbClr val="183B5B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10500" y="2686050"/>
            <a:ext cx="647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Layer 1</a:t>
            </a:r>
            <a:endParaRPr sz="157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7848600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896225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0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7924800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962900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0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7981950" y="38481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020050" y="38671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7981950" y="40576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020050" y="40767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7981950" y="42672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020050" y="42862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2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7981950" y="44767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020050" y="44958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3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943850" y="4714875"/>
            <a:ext cx="29432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...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11115675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1163300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1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11191875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1229975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1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11249025" y="38481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1287125" y="38671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8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11249025" y="40576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11287125" y="40767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9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11249025" y="42672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11287125" y="42862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10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11249025" y="44767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11287125" y="44958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11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1210925" y="4714875"/>
            <a:ext cx="29432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...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666750" y="7667625"/>
            <a:ext cx="1390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重点：Layer → Head → Block → Token。越靠外的轴，越早决定物理内存中的大块连续区域。</a:t>
            </a:r>
            <a:endParaRPr sz="1425" b="0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3" name="矩形 62"/>
          <p:cNvSpPr>
            <a:spLocks noGrp="1"/>
          </p:cNvSpPr>
          <p:nvPr/>
        </p:nvSpPr>
        <p:spPr>
          <a:xfrm>
            <a:off x="666750" y="333375"/>
            <a:ext cx="13906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原生 vLLM Full Attention：BLHNC</a:t>
            </a:r>
            <a:endParaRPr sz="2550" b="1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857250"/>
            <a:ext cx="1390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6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BLHNC = [Block, Layer, Head, Token, Content]</a:t>
            </a:r>
            <a:endParaRPr sz="165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238250"/>
            <a:ext cx="1390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这张图只改变物理嵌套顺序，token 的逻辑连续性保持不变：Block 0 = Token 0–15，Block 1 = Token 16–31。</a:t>
            </a:r>
            <a:endParaRPr sz="1425" b="0">
              <a:solidFill>
                <a:srgbClr val="425466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66750" y="1952625"/>
            <a:ext cx="13906500" cy="5334000"/>
          </a:xfrm>
          <a:prstGeom prst="roundRect">
            <a:avLst>
              <a:gd name="adj" fmla="val 1429"/>
            </a:avLst>
          </a:prstGeom>
          <a:solidFill>
            <a:srgbClr val="FAFCFE"/>
          </a:solidFill>
          <a:ln w="28575">
            <a:solidFill>
              <a:srgbClr val="183B5B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2105025"/>
            <a:ext cx="135636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物理嵌套顺序：Block → Layer → Head → Token</a:t>
            </a:r>
            <a:endParaRPr sz="142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57250" y="2571750"/>
            <a:ext cx="6667500" cy="4476750"/>
          </a:xfrm>
          <a:prstGeom prst="roundRect">
            <a:avLst>
              <a:gd name="adj" fmla="val 1702"/>
            </a:avLst>
          </a:prstGeom>
          <a:solidFill>
            <a:srgbClr val="F3F7FB"/>
          </a:solidFill>
          <a:ln w="19050">
            <a:solidFill>
              <a:srgbClr val="183B5B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686050"/>
            <a:ext cx="647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0 · Token 0–15</a:t>
            </a:r>
            <a:endParaRPr sz="157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90600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38225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66800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0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23950" y="38481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62050" y="38671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123950" y="40576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40767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123950" y="42672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62050" y="42862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2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123950" y="44767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62050" y="44958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3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85850" y="4714875"/>
            <a:ext cx="29432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...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257675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305300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333875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371975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1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4391025" y="38481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429125" y="38671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4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391025" y="40576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429125" y="40767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5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4391025" y="42672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429125" y="42862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6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391025" y="44767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429125" y="44958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7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352925" y="4714875"/>
            <a:ext cx="29432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...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715250" y="2571750"/>
            <a:ext cx="6667500" cy="4476750"/>
          </a:xfrm>
          <a:prstGeom prst="roundRect">
            <a:avLst>
              <a:gd name="adj" fmla="val 1702"/>
            </a:avLst>
          </a:prstGeom>
          <a:solidFill>
            <a:srgbClr val="F3F7FB"/>
          </a:solidFill>
          <a:ln w="19050">
            <a:solidFill>
              <a:srgbClr val="183B5B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10500" y="2686050"/>
            <a:ext cx="647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1 · Token 16–31</a:t>
            </a:r>
            <a:endParaRPr sz="157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7848600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896225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16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7924800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962900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0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7981950" y="38481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020050" y="38671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8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7981950" y="40576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020050" y="40767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9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7981950" y="42672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020050" y="42862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10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7981950" y="44767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020050" y="44958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11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943850" y="4714875"/>
            <a:ext cx="29432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...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11115675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1163300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17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11191875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1229975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1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11249025" y="38481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1287125" y="38671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12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11249025" y="40576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11287125" y="40767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13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11249025" y="42672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11287125" y="42862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14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11249025" y="44767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11287125" y="44958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15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1210925" y="4714875"/>
            <a:ext cx="29432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...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666750" y="7667625"/>
            <a:ext cx="1390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重点：Block → Layer → Head → Token。越靠外的轴，越早决定物理内存中的大块连续区域。</a:t>
            </a:r>
            <a:endParaRPr sz="1425" b="0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" name="矩形 42"/>
          <p:cNvSpPr>
            <a:spLocks noGrp="1"/>
          </p:cNvSpPr>
          <p:nvPr/>
        </p:nvSpPr>
        <p:spPr>
          <a:xfrm>
            <a:off x="666750" y="333375"/>
            <a:ext cx="13906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原生 vLLM Full Attention：BLNHC</a:t>
            </a:r>
            <a:endParaRPr sz="2550" b="1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857250"/>
            <a:ext cx="1390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6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BLNHC = [Block, Layer, Token, Head, Content]</a:t>
            </a:r>
            <a:endParaRPr sz="165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238250"/>
            <a:ext cx="1390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这张图只改变物理嵌套顺序，token 的逻辑连续性保持不变：Block 0 = Token 0–15，Block 1 = Token 16–31。</a:t>
            </a:r>
            <a:endParaRPr sz="1425" b="0">
              <a:solidFill>
                <a:srgbClr val="425466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66750" y="1952625"/>
            <a:ext cx="13906500" cy="5334000"/>
          </a:xfrm>
          <a:prstGeom prst="roundRect">
            <a:avLst>
              <a:gd name="adj" fmla="val 1429"/>
            </a:avLst>
          </a:prstGeom>
          <a:solidFill>
            <a:srgbClr val="FAFCFE"/>
          </a:solidFill>
          <a:ln w="28575">
            <a:solidFill>
              <a:srgbClr val="183B5B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2105025"/>
            <a:ext cx="135636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物理嵌套顺序：Block → Layer → Token → Head</a:t>
            </a:r>
            <a:endParaRPr sz="142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57250" y="2571750"/>
            <a:ext cx="6667500" cy="4476750"/>
          </a:xfrm>
          <a:prstGeom prst="roundRect">
            <a:avLst>
              <a:gd name="adj" fmla="val 1702"/>
            </a:avLst>
          </a:prstGeom>
          <a:solidFill>
            <a:srgbClr val="F3F7FB"/>
          </a:solidFill>
          <a:ln w="19050">
            <a:solidFill>
              <a:srgbClr val="183B5B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686050"/>
            <a:ext cx="647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0 · Token 0–15</a:t>
            </a:r>
            <a:endParaRPr sz="157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90600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38225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66800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23950" y="3848100"/>
            <a:ext cx="2867025" cy="238125"/>
          </a:xfrm>
          <a:prstGeom prst="roundRect">
            <a:avLst>
              <a:gd name="adj" fmla="val 32000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62050" y="3867150"/>
            <a:ext cx="2790825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0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123950" y="4133850"/>
            <a:ext cx="2867025" cy="238125"/>
          </a:xfrm>
          <a:prstGeom prst="roundRect">
            <a:avLst>
              <a:gd name="adj" fmla="val 32000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4152900"/>
            <a:ext cx="2790825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1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257675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305300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333875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371975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391025" y="3848100"/>
            <a:ext cx="2867025" cy="238125"/>
          </a:xfrm>
          <a:prstGeom prst="roundRect">
            <a:avLst>
              <a:gd name="adj" fmla="val 32000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429125" y="3867150"/>
            <a:ext cx="2790825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0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391025" y="4133850"/>
            <a:ext cx="2867025" cy="238125"/>
          </a:xfrm>
          <a:prstGeom prst="roundRect">
            <a:avLst>
              <a:gd name="adj" fmla="val 32000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429125" y="4152900"/>
            <a:ext cx="2790825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1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715250" y="2571750"/>
            <a:ext cx="6667500" cy="4476750"/>
          </a:xfrm>
          <a:prstGeom prst="roundRect">
            <a:avLst>
              <a:gd name="adj" fmla="val 1702"/>
            </a:avLst>
          </a:prstGeom>
          <a:solidFill>
            <a:srgbClr val="F3F7FB"/>
          </a:solidFill>
          <a:ln w="19050">
            <a:solidFill>
              <a:srgbClr val="183B5B"/>
            </a:solidFill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810500" y="2686050"/>
            <a:ext cx="647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1 · Token 16–31</a:t>
            </a:r>
            <a:endParaRPr sz="157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7848600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896225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16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924800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962900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16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981950" y="3848100"/>
            <a:ext cx="2867025" cy="238125"/>
          </a:xfrm>
          <a:prstGeom prst="roundRect">
            <a:avLst>
              <a:gd name="adj" fmla="val 32000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020050" y="3867150"/>
            <a:ext cx="2790825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0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981950" y="4133850"/>
            <a:ext cx="2867025" cy="238125"/>
          </a:xfrm>
          <a:prstGeom prst="roundRect">
            <a:avLst>
              <a:gd name="adj" fmla="val 32000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020050" y="4152900"/>
            <a:ext cx="2790825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1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11115675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1163300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17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11191875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1229975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17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11249025" y="3848100"/>
            <a:ext cx="2867025" cy="238125"/>
          </a:xfrm>
          <a:prstGeom prst="roundRect">
            <a:avLst>
              <a:gd name="adj" fmla="val 32000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1287125" y="3867150"/>
            <a:ext cx="2790825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0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11249025" y="4133850"/>
            <a:ext cx="2867025" cy="238125"/>
          </a:xfrm>
          <a:prstGeom prst="roundRect">
            <a:avLst>
              <a:gd name="adj" fmla="val 32000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1287125" y="4152900"/>
            <a:ext cx="2790825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1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66750" y="7667625"/>
            <a:ext cx="1390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重点：Block → Layer → Token → Head。越靠外的轴，越早决定物理内存中的大块连续区域。</a:t>
            </a:r>
            <a:endParaRPr sz="1425" b="0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3" name="矩形 62"/>
          <p:cNvSpPr>
            <a:spLocks noGrp="1"/>
          </p:cNvSpPr>
          <p:nvPr/>
        </p:nvSpPr>
        <p:spPr>
          <a:xfrm>
            <a:off x="666750" y="333375"/>
            <a:ext cx="13906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2550" b="1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原生 vLLM Full Attention：BHLNC</a:t>
            </a:r>
            <a:endParaRPr sz="2550" b="1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857250"/>
            <a:ext cx="1390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65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BHLNC = [Block, Head, Layer, Token, Content]</a:t>
            </a:r>
            <a:endParaRPr sz="165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238250"/>
            <a:ext cx="1390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0">
                <a:solidFill>
                  <a:srgbClr val="425466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这张图只改变物理嵌套顺序，token 的逻辑连续性保持不变：Block 0 = Token 0–15，Block 1 = Token 16–31。</a:t>
            </a:r>
            <a:endParaRPr sz="1425" b="0">
              <a:solidFill>
                <a:srgbClr val="425466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66750" y="1952625"/>
            <a:ext cx="13906500" cy="5334000"/>
          </a:xfrm>
          <a:prstGeom prst="roundRect">
            <a:avLst>
              <a:gd name="adj" fmla="val 1429"/>
            </a:avLst>
          </a:prstGeom>
          <a:solidFill>
            <a:srgbClr val="FAFCFE"/>
          </a:solidFill>
          <a:ln w="28575">
            <a:solidFill>
              <a:srgbClr val="183B5B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2105025"/>
            <a:ext cx="135636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物理嵌套顺序：Block → Head → Layer → Token</a:t>
            </a:r>
            <a:endParaRPr sz="142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57250" y="2571750"/>
            <a:ext cx="6667500" cy="4476750"/>
          </a:xfrm>
          <a:prstGeom prst="roundRect">
            <a:avLst>
              <a:gd name="adj" fmla="val 1702"/>
            </a:avLst>
          </a:prstGeom>
          <a:solidFill>
            <a:srgbClr val="F3F7FB"/>
          </a:solidFill>
          <a:ln w="19050">
            <a:solidFill>
              <a:srgbClr val="183B5B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686050"/>
            <a:ext cx="647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0 · Token 0–15</a:t>
            </a:r>
            <a:endParaRPr sz="157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90600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38225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0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66800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Layer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23950" y="38481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62050" y="38671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0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123950" y="40576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40767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123950" y="42672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62050" y="42862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2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123950" y="44767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62050" y="44958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3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85850" y="4714875"/>
            <a:ext cx="29432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...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257675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305300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1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333875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371975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Layer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4391025" y="38481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429125" y="38671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4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391025" y="40576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429125" y="40767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5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4391025" y="42672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429125" y="42862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6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391025" y="44767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429125" y="44958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7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352925" y="4714875"/>
            <a:ext cx="29432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...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715250" y="2571750"/>
            <a:ext cx="6667500" cy="4476750"/>
          </a:xfrm>
          <a:prstGeom prst="roundRect">
            <a:avLst>
              <a:gd name="adj" fmla="val 1702"/>
            </a:avLst>
          </a:prstGeom>
          <a:solidFill>
            <a:srgbClr val="F3F7FB"/>
          </a:solidFill>
          <a:ln w="19050">
            <a:solidFill>
              <a:srgbClr val="183B5B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10500" y="2686050"/>
            <a:ext cx="647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575" b="1">
                <a:solidFill>
                  <a:srgbClr val="183B5B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Block 1 · Token 16–31</a:t>
            </a:r>
            <a:endParaRPr sz="1575" b="1">
              <a:solidFill>
                <a:srgbClr val="183B5B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7848600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896225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0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7924800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962900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Layer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7981950" y="38481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020050" y="38671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8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7981950" y="40576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020050" y="40767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9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7981950" y="42672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020050" y="42862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10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7981950" y="44767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020050" y="44958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11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943850" y="4714875"/>
            <a:ext cx="29432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...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11115675" y="3086100"/>
            <a:ext cx="3133725" cy="3762375"/>
          </a:xfrm>
          <a:prstGeom prst="roundRect">
            <a:avLst>
              <a:gd name="adj" fmla="val 2432"/>
            </a:avLst>
          </a:prstGeom>
          <a:solidFill>
            <a:srgbClr val="DCEEFF"/>
          </a:solidFill>
          <a:ln w="19050">
            <a:solidFill>
              <a:srgbClr val="3A78A8"/>
            </a:solidFill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1163300" y="3162300"/>
            <a:ext cx="30384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200" b="1">
                <a:solidFill>
                  <a:srgbClr val="3A78A8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Head 1</a:t>
            </a:r>
            <a:endParaRPr sz="1200" b="1">
              <a:solidFill>
                <a:srgbClr val="3A78A8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11191875" y="3486150"/>
            <a:ext cx="2981325" cy="3190875"/>
          </a:xfrm>
          <a:prstGeom prst="roundRect">
            <a:avLst>
              <a:gd name="adj" fmla="val 2556"/>
            </a:avLst>
          </a:prstGeom>
          <a:solidFill>
            <a:srgbClr val="E7F5EA"/>
          </a:solidFill>
          <a:ln w="9525">
            <a:solidFill>
              <a:srgbClr val="4C9960"/>
            </a:solidFill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1229975" y="3562350"/>
            <a:ext cx="29051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050" b="1">
                <a:solidFill>
                  <a:srgbClr val="4C9960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Layer</a:t>
            </a:r>
            <a:endParaRPr sz="1050" b="1">
              <a:solidFill>
                <a:srgbClr val="4C9960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11249025" y="38481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1287125" y="38671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12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11249025" y="40576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11287125" y="40767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13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11249025" y="426720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11287125" y="428625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14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11249025" y="4476750"/>
            <a:ext cx="2867025" cy="171450"/>
          </a:xfrm>
          <a:prstGeom prst="roundRect">
            <a:avLst>
              <a:gd name="adj" fmla="val 44444"/>
            </a:avLst>
          </a:prstGeom>
          <a:solidFill>
            <a:srgbClr val="FFF0D5"/>
          </a:solidFill>
          <a:ln w="9525">
            <a:solidFill>
              <a:srgbClr val="C8832A"/>
            </a:solidFill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11287125" y="4495800"/>
            <a:ext cx="2790825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82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Token 15</a:t>
            </a:r>
            <a:endParaRPr sz="82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1210925" y="4714875"/>
            <a:ext cx="294322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975" b="1">
                <a:solidFill>
                  <a:srgbClr val="C8832A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...</a:t>
            </a:r>
            <a:endParaRPr sz="975" b="1">
              <a:solidFill>
                <a:srgbClr val="C8832A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666750" y="7667625"/>
            <a:ext cx="1390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defRPr>
            </a:pPr>
            <a:r>
              <a:rPr sz="1425" b="0">
                <a:solidFill>
                  <a:srgbClr val="142735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重点：Block → Head → Layer → Token。越靠外的轴，越早决定物理内存中的大块连续区域。</a:t>
            </a:r>
            <a:endParaRPr sz="1425" b="0">
              <a:solidFill>
                <a:srgbClr val="142735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2507</Words>
  <Application>WPS 演示</Application>
  <PresentationFormat>Converted Presentation</PresentationFormat>
  <Paragraphs>372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Arial</vt:lpstr>
      <vt:lpstr>宋体</vt:lpstr>
      <vt:lpstr>汉仪书宋二KW</vt:lpstr>
      <vt:lpstr>微软雅黑</vt:lpstr>
      <vt:lpstr>方正雅意黑 GB18030L2</vt:lpstr>
      <vt:lpstr>Arial Unicode MS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დ棒棒的洋</cp:lastModifiedBy>
  <cp:revision>1</cp:revision>
  <dcterms:created xsi:type="dcterms:W3CDTF">2026-09-09T03:20:10Z</dcterms:created>
  <dcterms:modified xsi:type="dcterms:W3CDTF">2026-09-09T03:20:10Z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36DEC1108DF672BA6AD0A06A30D73025_43</vt:lpwstr>
  </property>
  <property fmtid="{D5CDD505-2E9C-101B-9397-08002B2CF9AE}" pid="3" name="KSOProductBuildVer">
    <vt:lpwstr>2052-12.1.26055.26055</vt:lpwstr>
  </property>
</Properties>
</file>