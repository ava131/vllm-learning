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Ascend ordinary full attention. Shape from vllm_ascend/attention/attention_v1.py: [2, num_blocks, block_size, num_kv_heads, head_size]. Illustrative block_size=16, num_kv_heads=4, head_size=256.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1" name="矩形 110"/>
          <p:cNvSpPr>
            <a:spLocks noGrp="1"/>
          </p:cNvSpPr>
          <p:nvPr/>
        </p:nvSpPr>
        <p:spPr>
          <a:xfrm>
            <a:off x="666750" y="3333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Ascend 普通 Full Attention：一个 block 内 K/V 分开存放</a:t>
            </a:r>
            <a:endParaRPr sz="2550" b="1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857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backend shape = [2, num_blocks, block_size, num_kv_heads, head_size]</a:t>
            </a:r>
            <a:endParaRPr sz="16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238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这里的 2 表示两份独立 cache：K cache 和 V cache。每个 layer 都有自己的 block 序列。</a:t>
            </a:r>
            <a:endParaRPr sz="1425" b="0">
              <a:solidFill>
                <a:srgbClr val="425466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2000250"/>
            <a:ext cx="6667500" cy="5191125"/>
          </a:xfrm>
          <a:prstGeom prst="roundRect">
            <a:avLst>
              <a:gd name="adj" fmla="val 1468"/>
            </a:avLst>
          </a:prstGeom>
          <a:solidFill>
            <a:srgbClr val="F3F7FB"/>
          </a:solidFill>
          <a:ln w="28575">
            <a:solidFill>
              <a:srgbClr val="183B5B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2190750"/>
            <a:ext cx="6210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10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 0</a:t>
            </a:r>
            <a:endParaRPr sz="2100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2571750"/>
            <a:ext cx="6210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58748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0">
                <a:solidFill>
                  <a:srgbClr val="58748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每个 block = K 区域 + V 区域</a:t>
            </a:r>
            <a:endParaRPr sz="1350" b="0">
              <a:solidFill>
                <a:srgbClr val="58748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95350" y="3067050"/>
            <a:ext cx="2857500" cy="3714750"/>
          </a:xfrm>
          <a:prstGeom prst="roundRect">
            <a:avLst>
              <a:gd name="adj" fmla="val 2667"/>
            </a:avLst>
          </a:prstGeom>
          <a:solidFill>
            <a:srgbClr val="EAF4FC"/>
          </a:solidFill>
          <a:ln w="19050">
            <a:solidFill>
              <a:srgbClr val="3A78A8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2004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</a:t>
            </a:r>
            <a:endParaRPr sz="1575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3505200"/>
            <a:ext cx="2705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125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0–15</a:t>
            </a:r>
            <a:endParaRPr sz="1125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28700" y="3848100"/>
            <a:ext cx="2590800" cy="1238250"/>
          </a:xfrm>
          <a:prstGeom prst="roundRect">
            <a:avLst>
              <a:gd name="adj" fmla="val 6154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952875"/>
            <a:ext cx="24003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K cache</a:t>
            </a:r>
            <a:endParaRPr sz="13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42195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[16, 4, 256]</a:t>
            </a:r>
            <a:endParaRPr sz="10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162050" y="450532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19200" y="448627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162050" y="462915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19200" y="461010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75297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219200" y="473392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2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162050" y="487680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19200" y="485775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3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028700" y="5257800"/>
            <a:ext cx="2590800" cy="1238250"/>
          </a:xfrm>
          <a:prstGeom prst="roundRect">
            <a:avLst>
              <a:gd name="adj" fmla="val 6154"/>
            </a:avLst>
          </a:prstGeom>
          <a:solidFill>
            <a:srgbClr val="FFF0D5"/>
          </a:solidFill>
          <a:ln w="19050">
            <a:solidFill>
              <a:srgbClr val="C8832A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23950" y="5362575"/>
            <a:ext cx="24003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V cache</a:t>
            </a:r>
            <a:endParaRPr sz="1350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85850" y="56292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[16, 4, 256]</a:t>
            </a:r>
            <a:endParaRPr sz="10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162050" y="591502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219200" y="589597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162050" y="603885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19200" y="601980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162050" y="616267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219200" y="614362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2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1162050" y="628650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219200" y="626745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3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4019550" y="3067050"/>
            <a:ext cx="2857500" cy="3714750"/>
          </a:xfrm>
          <a:prstGeom prst="roundRect">
            <a:avLst>
              <a:gd name="adj" fmla="val 2667"/>
            </a:avLst>
          </a:prstGeom>
          <a:solidFill>
            <a:srgbClr val="EAF4FC"/>
          </a:solidFill>
          <a:ln w="19050">
            <a:solidFill>
              <a:srgbClr val="3A78A8"/>
            </a:solidFill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114800" y="32004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</a:t>
            </a:r>
            <a:endParaRPr sz="1575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095750" y="3505200"/>
            <a:ext cx="2705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125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16–31</a:t>
            </a:r>
            <a:endParaRPr sz="1125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4152900" y="3848100"/>
            <a:ext cx="2590800" cy="1238250"/>
          </a:xfrm>
          <a:prstGeom prst="roundRect">
            <a:avLst>
              <a:gd name="adj" fmla="val 6154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248150" y="3952875"/>
            <a:ext cx="24003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K cache</a:t>
            </a:r>
            <a:endParaRPr sz="13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210050" y="42195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[16, 4, 256]</a:t>
            </a:r>
            <a:endParaRPr sz="10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4286250" y="450532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343400" y="448627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4286250" y="462915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343400" y="461010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17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4286250" y="475297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343400" y="473392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18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4286250" y="487680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343400" y="485775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19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152900" y="5257800"/>
            <a:ext cx="2590800" cy="1238250"/>
          </a:xfrm>
          <a:prstGeom prst="roundRect">
            <a:avLst>
              <a:gd name="adj" fmla="val 6154"/>
            </a:avLst>
          </a:prstGeom>
          <a:solidFill>
            <a:srgbClr val="FFF0D5"/>
          </a:solidFill>
          <a:ln w="19050">
            <a:solidFill>
              <a:srgbClr val="C8832A"/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4248150" y="5362575"/>
            <a:ext cx="24003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V cache</a:t>
            </a:r>
            <a:endParaRPr sz="1350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210050" y="56292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[16, 4, 256]</a:t>
            </a:r>
            <a:endParaRPr sz="10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4286250" y="591502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4343400" y="589597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4286250" y="603885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4343400" y="601980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17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4286250" y="616267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4343400" y="614362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18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4286250" y="628650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4343400" y="626745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19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7905750" y="2000250"/>
            <a:ext cx="6667500" cy="5191125"/>
          </a:xfrm>
          <a:prstGeom prst="roundRect">
            <a:avLst>
              <a:gd name="adj" fmla="val 1468"/>
            </a:avLst>
          </a:prstGeom>
          <a:solidFill>
            <a:srgbClr val="F3F7FB"/>
          </a:solidFill>
          <a:ln w="28575">
            <a:solidFill>
              <a:srgbClr val="183B5B"/>
            </a:solidFill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134350" y="2190750"/>
            <a:ext cx="6210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100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 1</a:t>
            </a:r>
            <a:endParaRPr sz="2100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134350" y="2571750"/>
            <a:ext cx="62103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58748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0">
                <a:solidFill>
                  <a:srgbClr val="58748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每个 block = K 区域 + V 区域</a:t>
            </a:r>
            <a:endParaRPr sz="1350" b="0">
              <a:solidFill>
                <a:srgbClr val="58748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8134350" y="3067050"/>
            <a:ext cx="2857500" cy="3714750"/>
          </a:xfrm>
          <a:prstGeom prst="roundRect">
            <a:avLst>
              <a:gd name="adj" fmla="val 2667"/>
            </a:avLst>
          </a:prstGeom>
          <a:solidFill>
            <a:srgbClr val="EAF4FC"/>
          </a:solidFill>
          <a:ln w="19050">
            <a:solidFill>
              <a:srgbClr val="3A78A8"/>
            </a:solidFill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8229600" y="32004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</a:t>
            </a:r>
            <a:endParaRPr sz="1575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210550" y="3505200"/>
            <a:ext cx="2705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125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0–15</a:t>
            </a:r>
            <a:endParaRPr sz="1125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8267700" y="3848100"/>
            <a:ext cx="2590800" cy="1238250"/>
          </a:xfrm>
          <a:prstGeom prst="roundRect">
            <a:avLst>
              <a:gd name="adj" fmla="val 6154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8362950" y="3952875"/>
            <a:ext cx="24003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K cache</a:t>
            </a:r>
            <a:endParaRPr sz="13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8324850" y="42195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[16, 4, 256]</a:t>
            </a:r>
            <a:endParaRPr sz="10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8401050" y="450532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8458200" y="448627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8401050" y="462915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8458200" y="461010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8401050" y="475297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8458200" y="473392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2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8401050" y="487680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8458200" y="485775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3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8267700" y="5257800"/>
            <a:ext cx="2590800" cy="1238250"/>
          </a:xfrm>
          <a:prstGeom prst="roundRect">
            <a:avLst>
              <a:gd name="adj" fmla="val 6154"/>
            </a:avLst>
          </a:prstGeom>
          <a:solidFill>
            <a:srgbClr val="FFF0D5"/>
          </a:solidFill>
          <a:ln w="19050">
            <a:solidFill>
              <a:srgbClr val="C8832A"/>
            </a:solidFill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8362950" y="5362575"/>
            <a:ext cx="24003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V cache</a:t>
            </a:r>
            <a:endParaRPr sz="1350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8324850" y="56292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[16, 4, 256]</a:t>
            </a:r>
            <a:endParaRPr sz="10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8401050" y="591502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8458200" y="589597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8401050" y="603885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8458200" y="601980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8401050" y="616267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8458200" y="614362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2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8401050" y="628650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8458200" y="626745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3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11258550" y="3067050"/>
            <a:ext cx="2857500" cy="3714750"/>
          </a:xfrm>
          <a:prstGeom prst="roundRect">
            <a:avLst>
              <a:gd name="adj" fmla="val 2667"/>
            </a:avLst>
          </a:prstGeom>
          <a:solidFill>
            <a:srgbClr val="EAF4FC"/>
          </a:solidFill>
          <a:ln w="19050">
            <a:solidFill>
              <a:srgbClr val="3A78A8"/>
            </a:solidFill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11353800" y="32004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</a:t>
            </a:r>
            <a:endParaRPr sz="1575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1334750" y="3505200"/>
            <a:ext cx="2705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25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125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16–31</a:t>
            </a:r>
            <a:endParaRPr sz="1125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11391900" y="3848100"/>
            <a:ext cx="2590800" cy="1238250"/>
          </a:xfrm>
          <a:prstGeom prst="roundRect">
            <a:avLst>
              <a:gd name="adj" fmla="val 6154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11487150" y="3952875"/>
            <a:ext cx="24003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K cache</a:t>
            </a:r>
            <a:endParaRPr sz="13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1449050" y="42195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[16, 4, 256]</a:t>
            </a:r>
            <a:endParaRPr sz="10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11525250" y="450532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11582400" y="448627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11525250" y="462915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11582400" y="461010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17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11525250" y="475297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1582400" y="473392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18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11525250" y="487680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B9D9F2"/>
          </a:solidFill>
          <a:ln w="9525">
            <a:solidFill>
              <a:srgbClr val="3A78A8"/>
            </a:solidFill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11582400" y="485775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19</a:t>
            </a:r>
            <a:endParaRPr sz="750" b="0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11391900" y="5257800"/>
            <a:ext cx="2590800" cy="1238250"/>
          </a:xfrm>
          <a:prstGeom prst="roundRect">
            <a:avLst>
              <a:gd name="adj" fmla="val 6154"/>
            </a:avLst>
          </a:prstGeom>
          <a:solidFill>
            <a:srgbClr val="FFF0D5"/>
          </a:solidFill>
          <a:ln w="19050">
            <a:solidFill>
              <a:srgbClr val="C8832A"/>
            </a:solidFill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11487150" y="5362575"/>
            <a:ext cx="24003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V cache</a:t>
            </a:r>
            <a:endParaRPr sz="1350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11449050" y="56292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[16, 4, 256]</a:t>
            </a:r>
            <a:endParaRPr sz="10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1525250" y="591502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1582400" y="589597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11525250" y="603885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11582400" y="601980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17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11525250" y="6162675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11582400" y="6143625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18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11525250" y="6286500"/>
            <a:ext cx="2324100" cy="95250"/>
          </a:xfrm>
          <a:prstGeom prst="roundRect">
            <a:avLst>
              <a:gd name="adj" fmla="val 50000"/>
            </a:avLst>
          </a:prstGeom>
          <a:solidFill>
            <a:srgbClr val="F3D29B"/>
          </a:solidFill>
          <a:ln w="9525">
            <a:solidFill>
              <a:srgbClr val="C8832A"/>
            </a:solidFill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11582400" y="6267450"/>
            <a:ext cx="2209800" cy="123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750" b="0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19</a:t>
            </a:r>
            <a:endParaRPr sz="750" b="0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666750" y="7667625"/>
            <a:ext cx="13906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350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物理上：Layer 0 的 Block 0 和 Layer 1 的 Block 0 是两层各自的 cache；每个 block 内部再分成 K 和 V 两个独立 tensor。</a:t>
            </a:r>
            <a:endParaRPr sz="1350" b="0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WPS 演示</Application>
  <PresentationFormat>Converted Presentation</PresentationFormat>
  <Paragraphs>128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დ棒棒的洋</cp:lastModifiedBy>
  <cp:revision>1</cp:revision>
  <dcterms:created xsi:type="dcterms:W3CDTF">2026-09-09T03:24:21Z</dcterms:created>
  <dcterms:modified xsi:type="dcterms:W3CDTF">2026-09-09T03:24:21Z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34A1F3B0298DD6D965D1A06AFED93706_43</vt:lpwstr>
  </property>
  <property fmtid="{D5CDD505-2E9C-101B-9397-08002B2CF9AE}" pid="3" name="KSOProductBuildVer">
    <vt:lpwstr>2052-12.1.26055.26055</vt:lpwstr>
  </property>
</Properties>
</file>